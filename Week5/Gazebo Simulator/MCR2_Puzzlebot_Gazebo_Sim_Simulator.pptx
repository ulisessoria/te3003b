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59" r:id="rId7"/>
    <p:sldId id="262" r:id="rId8"/>
    <p:sldId id="263" r:id="rId9"/>
    <p:sldId id="271" r:id="rId10"/>
    <p:sldId id="266" r:id="rId11"/>
    <p:sldId id="268" r:id="rId12"/>
    <p:sldId id="272" r:id="rId13"/>
    <p:sldId id="273" r:id="rId14"/>
    <p:sldId id="265" r:id="rId15"/>
    <p:sldId id="269"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4F2"/>
    <a:srgbClr val="01CCFF"/>
    <a:srgbClr val="0DC0FF"/>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107" d="100"/>
          <a:sy n="107" d="100"/>
        </p:scale>
        <p:origin x="55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16/04/2025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16/04/2025</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zebosim.org/docs/latest/troubleshooting/" TargetMode="Externa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docs.ros.org/en/noetic/api/geometry_msgs/html/msg/Twist.html" TargetMode="External"/><Relationship Id="rId1" Type="http://schemas.openxmlformats.org/officeDocument/2006/relationships/slideLayout" Target="../slideLayouts/slideLayout2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ACF5-E785-8EDA-6936-DD2FDF63EB53}"/>
              </a:ext>
            </a:extLst>
          </p:cNvPr>
          <p:cNvSpPr>
            <a:spLocks noGrp="1"/>
          </p:cNvSpPr>
          <p:nvPr>
            <p:ph type="ctrTitle"/>
          </p:nvPr>
        </p:nvSpPr>
        <p:spPr/>
        <p:txBody>
          <a:bodyPr/>
          <a:lstStyle/>
          <a:p>
            <a:r>
              <a:rPr lang="en-GB" dirty="0"/>
              <a:t>Puzzlebot Gazebo Simulator</a:t>
            </a:r>
          </a:p>
        </p:txBody>
      </p:sp>
      <p:sp>
        <p:nvSpPr>
          <p:cNvPr id="3" name="Subtitle 2">
            <a:extLst>
              <a:ext uri="{FF2B5EF4-FFF2-40B4-BE49-F238E27FC236}">
                <a16:creationId xmlns:a16="http://schemas.microsoft.com/office/drawing/2014/main" id="{EA83CA59-D0D7-65C6-031D-A5A86C74233B}"/>
              </a:ext>
            </a:extLst>
          </p:cNvPr>
          <p:cNvSpPr>
            <a:spLocks noGrp="1"/>
          </p:cNvSpPr>
          <p:nvPr>
            <p:ph type="subTitle" idx="1"/>
          </p:nvPr>
        </p:nvSpPr>
        <p:spPr/>
        <p:txBody>
          <a:bodyPr/>
          <a:lstStyle/>
          <a:p>
            <a:r>
              <a:rPr lang="en-GB" dirty="0"/>
              <a:t>Instructions manual</a:t>
            </a:r>
          </a:p>
        </p:txBody>
      </p:sp>
    </p:spTree>
    <p:extLst>
      <p:ext uri="{BB962C8B-B14F-4D97-AF65-F5344CB8AC3E}">
        <p14:creationId xmlns:p14="http://schemas.microsoft.com/office/powerpoint/2010/main" val="2036534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6D5EAA-CE07-AAF1-7B72-5FE4E49234AE}"/>
              </a:ext>
            </a:extLst>
          </p:cNvPr>
          <p:cNvSpPr>
            <a:spLocks noGrp="1"/>
          </p:cNvSpPr>
          <p:nvPr>
            <p:ph sz="half" idx="1"/>
          </p:nvPr>
        </p:nvSpPr>
        <p:spPr/>
        <p:txBody>
          <a:bodyPr/>
          <a:lstStyle/>
          <a:p>
            <a:pPr marL="0" indent="0">
              <a:lnSpc>
                <a:spcPct val="150000"/>
              </a:lnSpc>
              <a:buNone/>
            </a:pPr>
            <a:r>
              <a:rPr lang="en-GB" sz="1800" b="1" dirty="0">
                <a:latin typeface="Nexa Bold" panose="02000000000000000000" pitchFamily="50" charset="0"/>
              </a:rPr>
              <a:t>Initialising the simulation</a:t>
            </a:r>
          </a:p>
          <a:p>
            <a:pPr>
              <a:lnSpc>
                <a:spcPct val="150000"/>
              </a:lnSpc>
            </a:pPr>
            <a:r>
              <a:rPr lang="en-GB" sz="1600" dirty="0"/>
              <a:t>Download the ROS packages to your workspace source folder (e.g., </a:t>
            </a:r>
            <a:r>
              <a:rPr lang="en-GB" sz="1600" dirty="0">
                <a:latin typeface="Consolas" panose="020B0609020204030204" pitchFamily="49" charset="0"/>
              </a:rPr>
              <a:t>ros2_ws/</a:t>
            </a:r>
            <a:r>
              <a:rPr lang="en-GB" sz="1600" dirty="0" err="1">
                <a:latin typeface="Consolas" panose="020B0609020204030204" pitchFamily="49" charset="0"/>
              </a:rPr>
              <a:t>src</a:t>
            </a:r>
            <a:r>
              <a:rPr lang="en-GB" sz="1600" dirty="0"/>
              <a:t>)</a:t>
            </a:r>
          </a:p>
          <a:p>
            <a:pPr marL="0" indent="0">
              <a:lnSpc>
                <a:spcPct val="150000"/>
              </a:lnSpc>
              <a:buNone/>
            </a:pPr>
            <a:endParaRPr lang="en-GB" sz="1600" dirty="0"/>
          </a:p>
          <a:p>
            <a:pPr>
              <a:lnSpc>
                <a:spcPct val="150000"/>
              </a:lnSpc>
            </a:pPr>
            <a:r>
              <a:rPr lang="en-GB" sz="1600" dirty="0"/>
              <a:t>Build and source the packages</a:t>
            </a:r>
          </a:p>
          <a:p>
            <a:pPr>
              <a:lnSpc>
                <a:spcPct val="150000"/>
              </a:lnSpc>
            </a:pPr>
            <a:endParaRPr lang="en-GB" sz="1600" dirty="0"/>
          </a:p>
          <a:p>
            <a:pPr>
              <a:lnSpc>
                <a:spcPct val="150000"/>
              </a:lnSpc>
            </a:pPr>
            <a:endParaRPr lang="en-GB" sz="1600" dirty="0"/>
          </a:p>
          <a:p>
            <a:pPr>
              <a:lnSpc>
                <a:spcPct val="150000"/>
              </a:lnSpc>
            </a:pPr>
            <a:r>
              <a:rPr lang="en-GB" sz="1600" dirty="0"/>
              <a:t>Run the Puzzlebot gazebo simulator using the following command</a:t>
            </a:r>
          </a:p>
          <a:p>
            <a:pPr>
              <a:lnSpc>
                <a:spcPct val="150000"/>
              </a:lnSpc>
            </a:pPr>
            <a:endParaRPr lang="en-GB" sz="1600" dirty="0"/>
          </a:p>
          <a:p>
            <a:pPr lvl="1">
              <a:lnSpc>
                <a:spcPct val="150000"/>
              </a:lnSpc>
            </a:pPr>
            <a:endParaRPr lang="en-GB" sz="1600" dirty="0">
              <a:latin typeface="Consolas" panose="020B0609020204030204" pitchFamily="49" charset="0"/>
            </a:endParaRPr>
          </a:p>
          <a:p>
            <a:pPr marL="0" indent="0">
              <a:buNone/>
            </a:pPr>
            <a:endParaRPr lang="en-GB" dirty="0"/>
          </a:p>
        </p:txBody>
      </p:sp>
      <p:sp>
        <p:nvSpPr>
          <p:cNvPr id="3" name="Content Placeholder 2">
            <a:extLst>
              <a:ext uri="{FF2B5EF4-FFF2-40B4-BE49-F238E27FC236}">
                <a16:creationId xmlns:a16="http://schemas.microsoft.com/office/drawing/2014/main" id="{B899B034-DD57-5F39-CA04-B924C0A05088}"/>
              </a:ext>
            </a:extLst>
          </p:cNvPr>
          <p:cNvSpPr>
            <a:spLocks noGrp="1"/>
          </p:cNvSpPr>
          <p:nvPr>
            <p:ph sz="half" idx="2"/>
          </p:nvPr>
        </p:nvSpPr>
        <p:spPr>
          <a:xfrm>
            <a:off x="6172200" y="1825624"/>
            <a:ext cx="5181600" cy="4826187"/>
          </a:xfrm>
        </p:spPr>
        <p:txBody>
          <a:bodyPr>
            <a:normAutofit/>
          </a:bodyPr>
          <a:lstStyle/>
          <a:p>
            <a:pPr>
              <a:lnSpc>
                <a:spcPct val="150000"/>
              </a:lnSpc>
            </a:pPr>
            <a:r>
              <a:rPr lang="en-GB" sz="1600" dirty="0"/>
              <a:t>The following screen should appear</a:t>
            </a:r>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200" dirty="0"/>
          </a:p>
          <a:p>
            <a:pPr>
              <a:lnSpc>
                <a:spcPct val="150000"/>
              </a:lnSpc>
            </a:pPr>
            <a:r>
              <a:rPr lang="en-GB" sz="1200" dirty="0"/>
              <a:t>If having rendering issues using a VM or WSL type the following command. More information </a:t>
            </a:r>
            <a:r>
              <a:rPr lang="en-GB" sz="1200" dirty="0">
                <a:hlinkClick r:id="rId2"/>
              </a:rPr>
              <a:t>here</a:t>
            </a:r>
            <a:endParaRPr lang="en-GB" sz="1200" dirty="0"/>
          </a:p>
          <a:p>
            <a:pPr>
              <a:lnSpc>
                <a:spcPct val="150000"/>
              </a:lnSpc>
            </a:pPr>
            <a:endParaRPr lang="en-GB" sz="1600" dirty="0"/>
          </a:p>
        </p:txBody>
      </p:sp>
      <p:sp>
        <p:nvSpPr>
          <p:cNvPr id="4" name="Title 3">
            <a:extLst>
              <a:ext uri="{FF2B5EF4-FFF2-40B4-BE49-F238E27FC236}">
                <a16:creationId xmlns:a16="http://schemas.microsoft.com/office/drawing/2014/main" id="{C75C3615-96C3-7274-5AD5-F5DA86611395}"/>
              </a:ext>
            </a:extLst>
          </p:cNvPr>
          <p:cNvSpPr>
            <a:spLocks noGrp="1"/>
          </p:cNvSpPr>
          <p:nvPr>
            <p:ph type="title"/>
          </p:nvPr>
        </p:nvSpPr>
        <p:spPr/>
        <p:txBody>
          <a:bodyPr/>
          <a:lstStyle/>
          <a:p>
            <a:r>
              <a:rPr lang="en-GB" dirty="0"/>
              <a:t>Gazebo simulation</a:t>
            </a:r>
          </a:p>
        </p:txBody>
      </p:sp>
      <p:sp>
        <p:nvSpPr>
          <p:cNvPr id="5" name="Rectangle 4">
            <a:extLst>
              <a:ext uri="{FF2B5EF4-FFF2-40B4-BE49-F238E27FC236}">
                <a16:creationId xmlns:a16="http://schemas.microsoft.com/office/drawing/2014/main" id="{DC810D99-E9F6-B71C-BC97-5EAE1554B4C4}"/>
              </a:ext>
            </a:extLst>
          </p:cNvPr>
          <p:cNvSpPr/>
          <p:nvPr/>
        </p:nvSpPr>
        <p:spPr>
          <a:xfrm>
            <a:off x="838200" y="3161795"/>
            <a:ext cx="5181600" cy="53440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err="1">
                <a:solidFill>
                  <a:schemeClr val="tx1"/>
                </a:solidFill>
                <a:latin typeface="Consolas" panose="020B0609020204030204" pitchFamily="49" charset="0"/>
              </a:rPr>
              <a:t>puzzlebot_gazebo</a:t>
            </a:r>
            <a:endParaRPr lang="en-GB" sz="1400" dirty="0">
              <a:solidFill>
                <a:schemeClr val="tx1"/>
              </a:solidFill>
              <a:latin typeface="Consolas" panose="020B0609020204030204" pitchFamily="49" charset="0"/>
            </a:endParaRPr>
          </a:p>
          <a:p>
            <a:pPr marL="90488" lvl="1">
              <a:tabLst>
                <a:tab pos="180975" algn="l"/>
              </a:tabLst>
            </a:pPr>
            <a:r>
              <a:rPr lang="en-GB" sz="1400" dirty="0" err="1">
                <a:solidFill>
                  <a:schemeClr val="tx1"/>
                </a:solidFill>
                <a:latin typeface="Consolas" panose="020B0609020204030204" pitchFamily="49" charset="0"/>
              </a:rPr>
              <a:t>puzzlebot_description</a:t>
            </a:r>
            <a:endParaRPr lang="en-GB" sz="1400" dirty="0">
              <a:solidFill>
                <a:schemeClr val="tx1"/>
              </a:solidFill>
              <a:latin typeface="Consolas" panose="020B0609020204030204" pitchFamily="49" charset="0"/>
            </a:endParaRPr>
          </a:p>
        </p:txBody>
      </p:sp>
      <p:sp>
        <p:nvSpPr>
          <p:cNvPr id="6" name="Rectangle 5">
            <a:extLst>
              <a:ext uri="{FF2B5EF4-FFF2-40B4-BE49-F238E27FC236}">
                <a16:creationId xmlns:a16="http://schemas.microsoft.com/office/drawing/2014/main" id="{F77258B9-9F3B-4A32-9127-2F9C433DB933}"/>
              </a:ext>
            </a:extLst>
          </p:cNvPr>
          <p:cNvSpPr/>
          <p:nvPr/>
        </p:nvSpPr>
        <p:spPr>
          <a:xfrm>
            <a:off x="838200" y="4333263"/>
            <a:ext cx="5181600" cy="73564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 cd ~/ros2_ws</a:t>
            </a:r>
          </a:p>
          <a:p>
            <a:pPr marL="90488" lvl="1">
              <a:tabLst>
                <a:tab pos="180975" algn="l"/>
              </a:tabLst>
            </a:pPr>
            <a:r>
              <a:rPr lang="en-GB" sz="1400" dirty="0">
                <a:solidFill>
                  <a:schemeClr val="tx1"/>
                </a:solidFill>
                <a:latin typeface="Consolas" panose="020B0609020204030204" pitchFamily="49" charset="0"/>
              </a:rPr>
              <a:t>$ </a:t>
            </a:r>
            <a:r>
              <a:rPr lang="en-GB" sz="1400" dirty="0" err="1">
                <a:solidFill>
                  <a:schemeClr val="tx1"/>
                </a:solidFill>
                <a:latin typeface="Consolas" panose="020B0609020204030204" pitchFamily="49" charset="0"/>
              </a:rPr>
              <a:t>colcon</a:t>
            </a:r>
            <a:r>
              <a:rPr lang="en-GB" sz="1400" dirty="0">
                <a:solidFill>
                  <a:schemeClr val="tx1"/>
                </a:solidFill>
                <a:latin typeface="Consolas" panose="020B0609020204030204" pitchFamily="49" charset="0"/>
              </a:rPr>
              <a:t> build</a:t>
            </a:r>
          </a:p>
          <a:p>
            <a:pPr marL="90488" lvl="1">
              <a:tabLst>
                <a:tab pos="180975" algn="l"/>
              </a:tabLst>
            </a:pPr>
            <a:r>
              <a:rPr lang="en-GB" sz="1400" dirty="0">
                <a:solidFill>
                  <a:schemeClr val="tx1"/>
                </a:solidFill>
                <a:latin typeface="Consolas" panose="020B0609020204030204" pitchFamily="49" charset="0"/>
              </a:rPr>
              <a:t>$ source install/</a:t>
            </a:r>
            <a:r>
              <a:rPr lang="en-GB" sz="1400" dirty="0" err="1">
                <a:solidFill>
                  <a:schemeClr val="tx1"/>
                </a:solidFill>
                <a:latin typeface="Consolas" panose="020B0609020204030204" pitchFamily="49" charset="0"/>
              </a:rPr>
              <a:t>setup.bash</a:t>
            </a:r>
            <a:endParaRPr lang="en-GB" sz="1400" dirty="0">
              <a:solidFill>
                <a:schemeClr val="tx1"/>
              </a:solidFill>
              <a:latin typeface="Consolas" panose="020B0609020204030204" pitchFamily="49" charset="0"/>
            </a:endParaRPr>
          </a:p>
        </p:txBody>
      </p:sp>
      <p:sp>
        <p:nvSpPr>
          <p:cNvPr id="7" name="Rectangle 6">
            <a:extLst>
              <a:ext uri="{FF2B5EF4-FFF2-40B4-BE49-F238E27FC236}">
                <a16:creationId xmlns:a16="http://schemas.microsoft.com/office/drawing/2014/main" id="{FFCC4D7D-C960-0597-9F33-C11FF422DE77}"/>
              </a:ext>
            </a:extLst>
          </p:cNvPr>
          <p:cNvSpPr/>
          <p:nvPr/>
        </p:nvSpPr>
        <p:spPr>
          <a:xfrm>
            <a:off x="0" y="6123110"/>
            <a:ext cx="6096000" cy="24825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 ros2 launch </a:t>
            </a:r>
            <a:r>
              <a:rPr lang="en-GB" sz="1400" dirty="0" err="1">
                <a:solidFill>
                  <a:schemeClr val="tx1"/>
                </a:solidFill>
                <a:latin typeface="Consolas" panose="020B0609020204030204" pitchFamily="49" charset="0"/>
              </a:rPr>
              <a:t>puzzlebot_gazebo</a:t>
            </a:r>
            <a:r>
              <a:rPr lang="en-GB" sz="1400" dirty="0">
                <a:solidFill>
                  <a:schemeClr val="tx1"/>
                </a:solidFill>
                <a:latin typeface="Consolas" panose="020B0609020204030204" pitchFamily="49" charset="0"/>
              </a:rPr>
              <a:t> bringup_simulation_launch.py</a:t>
            </a:r>
          </a:p>
        </p:txBody>
      </p:sp>
      <p:pic>
        <p:nvPicPr>
          <p:cNvPr id="10" name="Picture 9">
            <a:extLst>
              <a:ext uri="{FF2B5EF4-FFF2-40B4-BE49-F238E27FC236}">
                <a16:creationId xmlns:a16="http://schemas.microsoft.com/office/drawing/2014/main" id="{326D6AD5-AAB1-DC6C-589B-1068697A77F6}"/>
              </a:ext>
            </a:extLst>
          </p:cNvPr>
          <p:cNvPicPr>
            <a:picLocks noChangeAspect="1"/>
          </p:cNvPicPr>
          <p:nvPr/>
        </p:nvPicPr>
        <p:blipFill>
          <a:blip r:embed="rId3"/>
          <a:stretch>
            <a:fillRect/>
          </a:stretch>
        </p:blipFill>
        <p:spPr>
          <a:xfrm>
            <a:off x="6172200" y="2263627"/>
            <a:ext cx="5366462" cy="3042157"/>
          </a:xfrm>
          <a:prstGeom prst="rect">
            <a:avLst/>
          </a:prstGeom>
        </p:spPr>
      </p:pic>
      <p:sp>
        <p:nvSpPr>
          <p:cNvPr id="8" name="Rectangle 7">
            <a:extLst>
              <a:ext uri="{FF2B5EF4-FFF2-40B4-BE49-F238E27FC236}">
                <a16:creationId xmlns:a16="http://schemas.microsoft.com/office/drawing/2014/main" id="{6EF3B40C-F427-7EE9-74D2-9C500E5F44E2}"/>
              </a:ext>
            </a:extLst>
          </p:cNvPr>
          <p:cNvSpPr/>
          <p:nvPr/>
        </p:nvSpPr>
        <p:spPr>
          <a:xfrm>
            <a:off x="6248400" y="6371365"/>
            <a:ext cx="5290262" cy="24825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 export LIBGL_ALWAYS_SOFTWARE=1</a:t>
            </a:r>
          </a:p>
        </p:txBody>
      </p:sp>
    </p:spTree>
    <p:extLst>
      <p:ext uri="{BB962C8B-B14F-4D97-AF65-F5344CB8AC3E}">
        <p14:creationId xmlns:p14="http://schemas.microsoft.com/office/powerpoint/2010/main" val="2280581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383BCB-A598-9708-6DE7-9CCF122E73B6}"/>
              </a:ext>
            </a:extLst>
          </p:cNvPr>
          <p:cNvSpPr>
            <a:spLocks noGrp="1"/>
          </p:cNvSpPr>
          <p:nvPr>
            <p:ph sz="half" idx="1"/>
          </p:nvPr>
        </p:nvSpPr>
        <p:spPr/>
        <p:txBody>
          <a:bodyPr/>
          <a:lstStyle/>
          <a:p>
            <a:pPr marL="0" indent="0">
              <a:lnSpc>
                <a:spcPct val="150000"/>
              </a:lnSpc>
              <a:buNone/>
            </a:pPr>
            <a:r>
              <a:rPr lang="en-GB" sz="1800" b="1" dirty="0">
                <a:latin typeface="Nexa Bold" panose="02000000000000000000" pitchFamily="50" charset="0"/>
              </a:rPr>
              <a:t>Initialising the simulation</a:t>
            </a:r>
            <a:endParaRPr lang="en-GB" sz="1800" dirty="0"/>
          </a:p>
          <a:p>
            <a:pPr>
              <a:lnSpc>
                <a:spcPct val="150000"/>
              </a:lnSpc>
            </a:pPr>
            <a:r>
              <a:rPr lang="en-GB" sz="1600" dirty="0"/>
              <a:t>Open another terminal </a:t>
            </a:r>
          </a:p>
          <a:p>
            <a:pPr>
              <a:lnSpc>
                <a:spcPct val="150000"/>
              </a:lnSpc>
            </a:pPr>
            <a:r>
              <a:rPr lang="en-GB" sz="1600" dirty="0"/>
              <a:t>Verify the topics generated by the simulator using the following command</a:t>
            </a:r>
          </a:p>
          <a:p>
            <a:pPr>
              <a:lnSpc>
                <a:spcPct val="150000"/>
              </a:lnSpc>
            </a:pPr>
            <a:endParaRPr lang="en-GB" sz="1600" dirty="0"/>
          </a:p>
          <a:p>
            <a:pPr>
              <a:lnSpc>
                <a:spcPct val="150000"/>
              </a:lnSpc>
            </a:pPr>
            <a:r>
              <a:rPr lang="en-GB" sz="1600" dirty="0"/>
              <a:t>The following list of topics should appear</a:t>
            </a:r>
          </a:p>
          <a:p>
            <a:pPr>
              <a:lnSpc>
                <a:spcPct val="150000"/>
              </a:lnSpc>
            </a:pPr>
            <a:endParaRPr lang="en-GB" sz="1600" dirty="0"/>
          </a:p>
          <a:p>
            <a:endParaRPr lang="en-GB" sz="1600" dirty="0"/>
          </a:p>
        </p:txBody>
      </p:sp>
      <p:sp>
        <p:nvSpPr>
          <p:cNvPr id="4" name="Title 3">
            <a:extLst>
              <a:ext uri="{FF2B5EF4-FFF2-40B4-BE49-F238E27FC236}">
                <a16:creationId xmlns:a16="http://schemas.microsoft.com/office/drawing/2014/main" id="{76789B64-B974-711B-2812-C4E57E1ABE52}"/>
              </a:ext>
            </a:extLst>
          </p:cNvPr>
          <p:cNvSpPr>
            <a:spLocks noGrp="1"/>
          </p:cNvSpPr>
          <p:nvPr>
            <p:ph type="title"/>
          </p:nvPr>
        </p:nvSpPr>
        <p:spPr/>
        <p:txBody>
          <a:bodyPr/>
          <a:lstStyle/>
          <a:p>
            <a:r>
              <a:rPr lang="en-GB" dirty="0"/>
              <a:t>Gazebo simulation</a:t>
            </a:r>
          </a:p>
        </p:txBody>
      </p:sp>
      <p:sp>
        <p:nvSpPr>
          <p:cNvPr id="5" name="Rectangle 4">
            <a:extLst>
              <a:ext uri="{FF2B5EF4-FFF2-40B4-BE49-F238E27FC236}">
                <a16:creationId xmlns:a16="http://schemas.microsoft.com/office/drawing/2014/main" id="{0FDD3BCB-F890-2FE7-56DF-6E4AD81C87E0}"/>
              </a:ext>
            </a:extLst>
          </p:cNvPr>
          <p:cNvSpPr/>
          <p:nvPr/>
        </p:nvSpPr>
        <p:spPr>
          <a:xfrm>
            <a:off x="838200" y="3874153"/>
            <a:ext cx="5181600" cy="25428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 ros2 topic list</a:t>
            </a:r>
          </a:p>
        </p:txBody>
      </p:sp>
      <p:pic>
        <p:nvPicPr>
          <p:cNvPr id="12" name="Content Placeholder 11">
            <a:extLst>
              <a:ext uri="{FF2B5EF4-FFF2-40B4-BE49-F238E27FC236}">
                <a16:creationId xmlns:a16="http://schemas.microsoft.com/office/drawing/2014/main" id="{4EE5EE36-34AD-93C0-C681-C9898C270E8E}"/>
              </a:ext>
            </a:extLst>
          </p:cNvPr>
          <p:cNvPicPr>
            <a:picLocks noGrp="1" noChangeAspect="1"/>
          </p:cNvPicPr>
          <p:nvPr>
            <p:ph sz="half" idx="2"/>
          </p:nvPr>
        </p:nvPicPr>
        <p:blipFill>
          <a:blip r:embed="rId2"/>
          <a:stretch>
            <a:fillRect/>
          </a:stretch>
        </p:blipFill>
        <p:spPr>
          <a:xfrm>
            <a:off x="7080853" y="1825625"/>
            <a:ext cx="3364293" cy="4351338"/>
          </a:xfrm>
        </p:spPr>
      </p:pic>
      <p:pic>
        <p:nvPicPr>
          <p:cNvPr id="10" name="Picture 9">
            <a:extLst>
              <a:ext uri="{FF2B5EF4-FFF2-40B4-BE49-F238E27FC236}">
                <a16:creationId xmlns:a16="http://schemas.microsoft.com/office/drawing/2014/main" id="{DF686089-DE97-6E9F-BC52-A13647D1DCCF}"/>
              </a:ext>
            </a:extLst>
          </p:cNvPr>
          <p:cNvPicPr>
            <a:picLocks noChangeAspect="1"/>
          </p:cNvPicPr>
          <p:nvPr/>
        </p:nvPicPr>
        <p:blipFill>
          <a:blip r:embed="rId3"/>
          <a:stretch>
            <a:fillRect/>
          </a:stretch>
        </p:blipFill>
        <p:spPr>
          <a:xfrm>
            <a:off x="1376695" y="4697506"/>
            <a:ext cx="3598718" cy="2051409"/>
          </a:xfrm>
          <a:prstGeom prst="rect">
            <a:avLst/>
          </a:prstGeom>
        </p:spPr>
      </p:pic>
    </p:spTree>
    <p:extLst>
      <p:ext uri="{BB962C8B-B14F-4D97-AF65-F5344CB8AC3E}">
        <p14:creationId xmlns:p14="http://schemas.microsoft.com/office/powerpoint/2010/main" val="3302660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782C-0625-3F01-8D84-D594E05703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4ED6F7-6115-D465-F6D8-AFAF71B2DBB9}"/>
              </a:ext>
            </a:extLst>
          </p:cNvPr>
          <p:cNvSpPr>
            <a:spLocks noGrp="1"/>
          </p:cNvSpPr>
          <p:nvPr>
            <p:ph sz="half" idx="1"/>
          </p:nvPr>
        </p:nvSpPr>
        <p:spPr>
          <a:xfrm>
            <a:off x="744338" y="1446302"/>
            <a:ext cx="5181600" cy="4351338"/>
          </a:xfrm>
        </p:spPr>
        <p:txBody>
          <a:bodyPr>
            <a:normAutofit/>
          </a:bodyPr>
          <a:lstStyle/>
          <a:p>
            <a:pPr marL="0" indent="0">
              <a:lnSpc>
                <a:spcPct val="150000"/>
              </a:lnSpc>
              <a:buNone/>
            </a:pPr>
            <a:r>
              <a:rPr lang="en-GB" sz="1800" b="1" dirty="0">
                <a:latin typeface="Nexa Bold" panose="02000000000000000000" pitchFamily="50" charset="0"/>
              </a:rPr>
              <a:t>Running  the simulation</a:t>
            </a:r>
            <a:endParaRPr lang="en-GB" sz="1800" dirty="0"/>
          </a:p>
          <a:p>
            <a:pPr>
              <a:lnSpc>
                <a:spcPct val="150000"/>
              </a:lnSpc>
            </a:pPr>
            <a:r>
              <a:rPr lang="en-GB" sz="1600" dirty="0"/>
              <a:t>Sending velocity commands to the robot is done using the following topic</a:t>
            </a:r>
          </a:p>
          <a:p>
            <a:pPr>
              <a:lnSpc>
                <a:spcPct val="150000"/>
              </a:lnSpc>
            </a:pPr>
            <a:endParaRPr lang="en-GB" sz="1600" dirty="0"/>
          </a:p>
          <a:p>
            <a:pPr>
              <a:lnSpc>
                <a:spcPct val="150000"/>
              </a:lnSpc>
            </a:pPr>
            <a:endParaRPr lang="en-GB" sz="1600" dirty="0"/>
          </a:p>
          <a:p>
            <a:endParaRPr lang="en-GB" sz="1600" dirty="0"/>
          </a:p>
        </p:txBody>
      </p:sp>
      <p:sp>
        <p:nvSpPr>
          <p:cNvPr id="4" name="Title 3">
            <a:extLst>
              <a:ext uri="{FF2B5EF4-FFF2-40B4-BE49-F238E27FC236}">
                <a16:creationId xmlns:a16="http://schemas.microsoft.com/office/drawing/2014/main" id="{1BE51F6D-D523-A892-6B0F-8FDBF8883737}"/>
              </a:ext>
            </a:extLst>
          </p:cNvPr>
          <p:cNvSpPr>
            <a:spLocks noGrp="1"/>
          </p:cNvSpPr>
          <p:nvPr>
            <p:ph type="title"/>
          </p:nvPr>
        </p:nvSpPr>
        <p:spPr/>
        <p:txBody>
          <a:bodyPr/>
          <a:lstStyle/>
          <a:p>
            <a:r>
              <a:rPr lang="en-GB" dirty="0"/>
              <a:t>Gazebo simulation</a:t>
            </a:r>
          </a:p>
        </p:txBody>
      </p:sp>
      <p:sp>
        <p:nvSpPr>
          <p:cNvPr id="5" name="Rectangle 4">
            <a:extLst>
              <a:ext uri="{FF2B5EF4-FFF2-40B4-BE49-F238E27FC236}">
                <a16:creationId xmlns:a16="http://schemas.microsoft.com/office/drawing/2014/main" id="{E73D2D0E-99EF-BF95-2013-660DE99C434C}"/>
              </a:ext>
            </a:extLst>
          </p:cNvPr>
          <p:cNvSpPr/>
          <p:nvPr/>
        </p:nvSpPr>
        <p:spPr>
          <a:xfrm>
            <a:off x="744338" y="2890076"/>
            <a:ext cx="5181600" cy="25428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bg2">
                    <a:lumMod val="50000"/>
                  </a:schemeClr>
                </a:solidFill>
                <a:latin typeface="Consolas" panose="020B0609020204030204" pitchFamily="49" charset="0"/>
              </a:rPr>
              <a:t>/</a:t>
            </a:r>
            <a:r>
              <a:rPr lang="en-GB" sz="1400" dirty="0" err="1">
                <a:solidFill>
                  <a:schemeClr val="bg2">
                    <a:lumMod val="50000"/>
                  </a:schemeClr>
                </a:solidFill>
                <a:latin typeface="Consolas" panose="020B0609020204030204" pitchFamily="49" charset="0"/>
              </a:rPr>
              <a:t>cmd_vel</a:t>
            </a:r>
            <a:endParaRPr lang="en-GB" sz="1400" dirty="0">
              <a:solidFill>
                <a:schemeClr val="bg2">
                  <a:lumMod val="50000"/>
                </a:schemeClr>
              </a:solidFill>
              <a:latin typeface="Consolas" panose="020B0609020204030204" pitchFamily="49" charset="0"/>
            </a:endParaRPr>
          </a:p>
        </p:txBody>
      </p:sp>
      <p:sp>
        <p:nvSpPr>
          <p:cNvPr id="9" name="Rectangle 8">
            <a:extLst>
              <a:ext uri="{FF2B5EF4-FFF2-40B4-BE49-F238E27FC236}">
                <a16:creationId xmlns:a16="http://schemas.microsoft.com/office/drawing/2014/main" id="{1408E10E-CB73-502B-E145-F06D320D8314}"/>
              </a:ext>
            </a:extLst>
          </p:cNvPr>
          <p:cNvSpPr/>
          <p:nvPr/>
        </p:nvSpPr>
        <p:spPr>
          <a:xfrm>
            <a:off x="6172200" y="3913925"/>
            <a:ext cx="5181600" cy="247491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bg2">
                    <a:lumMod val="50000"/>
                  </a:schemeClr>
                </a:solidFill>
                <a:latin typeface="Consolas" panose="020B0609020204030204" pitchFamily="49" charset="0"/>
              </a:rPr>
              <a:t>Topic: /</a:t>
            </a:r>
            <a:r>
              <a:rPr lang="en-GB" sz="1400" dirty="0" err="1">
                <a:solidFill>
                  <a:schemeClr val="bg2">
                    <a:lumMod val="50000"/>
                  </a:schemeClr>
                </a:solidFill>
                <a:latin typeface="Consolas" panose="020B0609020204030204" pitchFamily="49" charset="0"/>
              </a:rPr>
              <a:t>cmd_vel</a:t>
            </a:r>
            <a:endParaRPr lang="en-GB" sz="1400" dirty="0">
              <a:solidFill>
                <a:schemeClr val="bg2">
                  <a:lumMod val="50000"/>
                </a:schemeClr>
              </a:solidFill>
              <a:latin typeface="Consolas" panose="020B0609020204030204" pitchFamily="49" charset="0"/>
            </a:endParaRPr>
          </a:p>
          <a:p>
            <a:pPr marL="90488" lvl="1">
              <a:tabLst>
                <a:tab pos="180975" algn="l"/>
              </a:tabLst>
            </a:pPr>
            <a:r>
              <a:rPr lang="en-GB" sz="1400" dirty="0">
                <a:solidFill>
                  <a:schemeClr val="bg2">
                    <a:lumMod val="50000"/>
                  </a:schemeClr>
                </a:solidFill>
                <a:latin typeface="Consolas" panose="020B0609020204030204" pitchFamily="49" charset="0"/>
              </a:rPr>
              <a:t>Message: geometry_msgs/Twist</a:t>
            </a:r>
          </a:p>
          <a:p>
            <a:pPr marL="547688" lvl="2">
              <a:tabLst>
                <a:tab pos="180975" algn="l"/>
              </a:tabLst>
            </a:pPr>
            <a:r>
              <a:rPr lang="es-ES" sz="1400" dirty="0">
                <a:solidFill>
                  <a:schemeClr val="bg2">
                    <a:lumMod val="50000"/>
                  </a:schemeClr>
                </a:solidFill>
                <a:latin typeface="Consolas" panose="020B0609020204030204" pitchFamily="49" charset="0"/>
              </a:rPr>
              <a:t>"linear:</a:t>
            </a:r>
          </a:p>
          <a:p>
            <a:pPr marL="547688" lvl="2">
              <a:tabLst>
                <a:tab pos="180975" algn="l"/>
              </a:tabLst>
            </a:pPr>
            <a:r>
              <a:rPr lang="es-ES" sz="1400" dirty="0">
                <a:solidFill>
                  <a:schemeClr val="bg2">
                    <a:lumMod val="50000"/>
                  </a:schemeClr>
                </a:solidFill>
                <a:latin typeface="Consolas" panose="020B0609020204030204" pitchFamily="49" charset="0"/>
              </a:rPr>
              <a:t>  x: </a:t>
            </a:r>
            <a:r>
              <a:rPr lang="es-ES" sz="1400" dirty="0" err="1">
                <a:solidFill>
                  <a:schemeClr val="bg2">
                    <a:lumMod val="50000"/>
                  </a:schemeClr>
                </a:solidFill>
                <a:latin typeface="Consolas" panose="020B0609020204030204" pitchFamily="49" charset="0"/>
              </a:rPr>
              <a:t>linear_velocity</a:t>
            </a:r>
            <a:r>
              <a:rPr lang="es-ES" sz="1400" dirty="0">
                <a:solidFill>
                  <a:schemeClr val="bg2">
                    <a:lumMod val="50000"/>
                  </a:schemeClr>
                </a:solidFill>
                <a:latin typeface="Consolas" panose="020B0609020204030204" pitchFamily="49" charset="0"/>
              </a:rPr>
              <a:t> (v)</a:t>
            </a:r>
          </a:p>
          <a:p>
            <a:pPr marL="547688" lvl="2">
              <a:tabLst>
                <a:tab pos="180975" algn="l"/>
              </a:tabLst>
            </a:pPr>
            <a:r>
              <a:rPr lang="es-ES" sz="1400" dirty="0">
                <a:solidFill>
                  <a:schemeClr val="bg2">
                    <a:lumMod val="50000"/>
                  </a:schemeClr>
                </a:solidFill>
                <a:latin typeface="Consolas" panose="020B0609020204030204" pitchFamily="49" charset="0"/>
              </a:rPr>
              <a:t>  y: 0.0</a:t>
            </a:r>
          </a:p>
          <a:p>
            <a:pPr marL="547688" lvl="2">
              <a:tabLst>
                <a:tab pos="180975" algn="l"/>
              </a:tabLst>
            </a:pPr>
            <a:r>
              <a:rPr lang="es-ES" sz="1400" dirty="0">
                <a:solidFill>
                  <a:schemeClr val="bg2">
                    <a:lumMod val="50000"/>
                  </a:schemeClr>
                </a:solidFill>
                <a:latin typeface="Consolas" panose="020B0609020204030204" pitchFamily="49" charset="0"/>
              </a:rPr>
              <a:t>  z: 0.0</a:t>
            </a:r>
          </a:p>
          <a:p>
            <a:pPr marL="547688" lvl="2">
              <a:tabLst>
                <a:tab pos="180975" algn="l"/>
              </a:tabLst>
            </a:pPr>
            <a:r>
              <a:rPr lang="es-ES" sz="1400" dirty="0">
                <a:solidFill>
                  <a:schemeClr val="bg2">
                    <a:lumMod val="50000"/>
                  </a:schemeClr>
                </a:solidFill>
                <a:latin typeface="Consolas" panose="020B0609020204030204" pitchFamily="49" charset="0"/>
              </a:rPr>
              <a:t>angular:</a:t>
            </a:r>
          </a:p>
          <a:p>
            <a:pPr marL="547688" lvl="2">
              <a:tabLst>
                <a:tab pos="180975" algn="l"/>
              </a:tabLst>
            </a:pPr>
            <a:r>
              <a:rPr lang="es-ES" sz="1400" dirty="0">
                <a:solidFill>
                  <a:schemeClr val="bg2">
                    <a:lumMod val="50000"/>
                  </a:schemeClr>
                </a:solidFill>
                <a:latin typeface="Consolas" panose="020B0609020204030204" pitchFamily="49" charset="0"/>
              </a:rPr>
              <a:t>  x: 0.0</a:t>
            </a:r>
          </a:p>
          <a:p>
            <a:pPr marL="547688" lvl="2">
              <a:tabLst>
                <a:tab pos="180975" algn="l"/>
              </a:tabLst>
            </a:pPr>
            <a:r>
              <a:rPr lang="es-ES" sz="1400" dirty="0">
                <a:solidFill>
                  <a:schemeClr val="bg2">
                    <a:lumMod val="50000"/>
                  </a:schemeClr>
                </a:solidFill>
                <a:latin typeface="Consolas" panose="020B0609020204030204" pitchFamily="49" charset="0"/>
              </a:rPr>
              <a:t>  y: 0.0</a:t>
            </a:r>
          </a:p>
          <a:p>
            <a:pPr marL="547688" lvl="2">
              <a:tabLst>
                <a:tab pos="180975" algn="l"/>
              </a:tabLst>
            </a:pPr>
            <a:r>
              <a:rPr lang="es-ES" sz="1400" dirty="0">
                <a:solidFill>
                  <a:schemeClr val="bg2">
                    <a:lumMod val="50000"/>
                  </a:schemeClr>
                </a:solidFill>
                <a:latin typeface="Consolas" panose="020B0609020204030204" pitchFamily="49" charset="0"/>
              </a:rPr>
              <a:t>  z: </a:t>
            </a:r>
            <a:r>
              <a:rPr lang="es-ES" sz="1400" dirty="0" err="1">
                <a:solidFill>
                  <a:schemeClr val="bg2">
                    <a:lumMod val="50000"/>
                  </a:schemeClr>
                </a:solidFill>
                <a:latin typeface="Consolas" panose="020B0609020204030204" pitchFamily="49" charset="0"/>
              </a:rPr>
              <a:t>angular_velocity</a:t>
            </a:r>
            <a:r>
              <a:rPr lang="es-ES" sz="1400" dirty="0">
                <a:solidFill>
                  <a:schemeClr val="bg2">
                    <a:lumMod val="50000"/>
                  </a:schemeClr>
                </a:solidFill>
                <a:latin typeface="Consolas" panose="020B0609020204030204" pitchFamily="49" charset="0"/>
              </a:rPr>
              <a:t> (omega)" </a:t>
            </a:r>
            <a:endParaRPr lang="en-GB" sz="1400" dirty="0">
              <a:solidFill>
                <a:schemeClr val="bg2">
                  <a:lumMod val="50000"/>
                </a:schemeClr>
              </a:solidFill>
              <a:latin typeface="Consolas" panose="020B0609020204030204" pitchFamily="49" charset="0"/>
            </a:endParaRP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FC4949C2-45FE-A07D-3420-56D3083EE32B}"/>
                  </a:ext>
                </a:extLst>
              </p:cNvPr>
              <p:cNvSpPr>
                <a:spLocks noGrp="1"/>
              </p:cNvSpPr>
              <p:nvPr>
                <p:ph sz="half" idx="2"/>
              </p:nvPr>
            </p:nvSpPr>
            <p:spPr>
              <a:xfrm>
                <a:off x="6172200" y="1395675"/>
                <a:ext cx="5181600" cy="4351338"/>
              </a:xfrm>
            </p:spPr>
            <p:txBody>
              <a:bodyPr/>
              <a:lstStyle/>
              <a:p>
                <a:pPr>
                  <a:lnSpc>
                    <a:spcPct val="150000"/>
                  </a:lnSpc>
                </a:pPr>
                <a:r>
                  <a:rPr lang="en-GB" sz="1600" dirty="0"/>
                  <a:t>The message to be used is a </a:t>
                </a:r>
                <a:r>
                  <a:rPr lang="en-GB" sz="1600" dirty="0" err="1"/>
                  <a:t>geometry_msg</a:t>
                </a:r>
                <a:r>
                  <a:rPr lang="en-GB" sz="1600" dirty="0"/>
                  <a:t>/Twist (more information </a:t>
                </a:r>
                <a:r>
                  <a:rPr lang="en-GB" sz="1600" dirty="0">
                    <a:hlinkClick r:id="rId2">
                      <a:extLst>
                        <a:ext uri="{A12FA001-AC4F-418D-AE19-62706E023703}">
                          <ahyp:hlinkClr xmlns:ahyp="http://schemas.microsoft.com/office/drawing/2018/hyperlinkcolor" val="tx"/>
                        </a:ext>
                      </a:extLst>
                    </a:hlinkClick>
                  </a:rPr>
                  <a:t>here</a:t>
                </a:r>
                <a:r>
                  <a:rPr lang="en-GB" sz="1600" dirty="0"/>
                  <a:t>)</a:t>
                </a:r>
              </a:p>
              <a:p>
                <a:pPr>
                  <a:lnSpc>
                    <a:spcPct val="150000"/>
                  </a:lnSpc>
                </a:pPr>
                <a:r>
                  <a:rPr lang="en-GB" sz="1600" dirty="0"/>
                  <a:t>The robot’s linear velocity </a:t>
                </a:r>
                <a14:m>
                  <m:oMath xmlns:m="http://schemas.openxmlformats.org/officeDocument/2006/math">
                    <m:r>
                      <a:rPr lang="en-GB" sz="1600">
                        <a:latin typeface="Cambria Math" panose="02040503050406030204" pitchFamily="18" charset="0"/>
                      </a:rPr>
                      <m:t>𝑣</m:t>
                    </m:r>
                  </m:oMath>
                </a14:m>
                <a:r>
                  <a:rPr lang="en-GB" sz="1600" dirty="0"/>
                  <a:t> and angular velocity </a:t>
                </a:r>
                <a14:m>
                  <m:oMath xmlns:m="http://schemas.openxmlformats.org/officeDocument/2006/math">
                    <m:r>
                      <a:rPr lang="en-GB" sz="1600">
                        <a:latin typeface="Cambria Math" panose="02040503050406030204" pitchFamily="18" charset="0"/>
                      </a:rPr>
                      <m:t>𝜔</m:t>
                    </m:r>
                  </m:oMath>
                </a14:m>
                <a:r>
                  <a:rPr lang="en-GB" sz="1600" dirty="0"/>
                  <a:t> must be set in the </a:t>
                </a:r>
                <a:r>
                  <a:rPr lang="en-GB" sz="1600" i="1" dirty="0" err="1"/>
                  <a:t>linear.x</a:t>
                </a:r>
                <a:r>
                  <a:rPr lang="en-GB" sz="1600" dirty="0"/>
                  <a:t> and </a:t>
                </a:r>
                <a:r>
                  <a:rPr lang="en-GB" sz="1600" i="1" dirty="0" err="1"/>
                  <a:t>angular.z</a:t>
                </a:r>
                <a:r>
                  <a:rPr lang="en-GB" sz="1600" i="1" dirty="0"/>
                  <a:t>  </a:t>
                </a:r>
                <a:r>
                  <a:rPr lang="en-GB" sz="1600" dirty="0"/>
                  <a:t>sections of the message (ROS convention for differential drive robots).</a:t>
                </a:r>
              </a:p>
            </p:txBody>
          </p:sp>
        </mc:Choice>
        <mc:Fallback xmlns="">
          <p:sp>
            <p:nvSpPr>
              <p:cNvPr id="10" name="Content Placeholder 9">
                <a:extLst>
                  <a:ext uri="{FF2B5EF4-FFF2-40B4-BE49-F238E27FC236}">
                    <a16:creationId xmlns:a16="http://schemas.microsoft.com/office/drawing/2014/main" id="{FC4949C2-45FE-A07D-3420-56D3083EE32B}"/>
                  </a:ext>
                </a:extLst>
              </p:cNvPr>
              <p:cNvSpPr>
                <a:spLocks noGrp="1" noRot="1" noChangeAspect="1" noMove="1" noResize="1" noEditPoints="1" noAdjustHandles="1" noChangeArrowheads="1" noChangeShapeType="1" noTextEdit="1"/>
              </p:cNvSpPr>
              <p:nvPr>
                <p:ph sz="half" idx="2"/>
              </p:nvPr>
            </p:nvSpPr>
            <p:spPr>
              <a:xfrm>
                <a:off x="6172200" y="1395675"/>
                <a:ext cx="5181600" cy="4351338"/>
              </a:xfrm>
              <a:blipFill>
                <a:blip r:embed="rId3"/>
                <a:stretch>
                  <a:fillRect l="-471" r="-118"/>
                </a:stretch>
              </a:blipFill>
            </p:spPr>
            <p:txBody>
              <a:bodyPr/>
              <a:lstStyle/>
              <a:p>
                <a:r>
                  <a:rPr lang="en-GB">
                    <a:noFill/>
                  </a:rPr>
                  <a:t> </a:t>
                </a:r>
              </a:p>
            </p:txBody>
          </p:sp>
        </mc:Fallback>
      </mc:AlternateContent>
      <p:pic>
        <p:nvPicPr>
          <p:cNvPr id="11" name="Content Placeholder 5">
            <a:extLst>
              <a:ext uri="{FF2B5EF4-FFF2-40B4-BE49-F238E27FC236}">
                <a16:creationId xmlns:a16="http://schemas.microsoft.com/office/drawing/2014/main" id="{5365FCBD-CC6B-014F-3A69-FE2505151E2C}"/>
              </a:ext>
            </a:extLst>
          </p:cNvPr>
          <p:cNvPicPr>
            <a:picLocks noChangeAspect="1"/>
          </p:cNvPicPr>
          <p:nvPr/>
        </p:nvPicPr>
        <p:blipFill>
          <a:blip r:embed="rId4"/>
          <a:stretch>
            <a:fillRect/>
          </a:stretch>
        </p:blipFill>
        <p:spPr>
          <a:xfrm>
            <a:off x="1526015" y="3429000"/>
            <a:ext cx="3620608" cy="2845813"/>
          </a:xfrm>
          <a:prstGeom prst="rect">
            <a:avLst/>
          </a:prstGeom>
        </p:spPr>
      </p:pic>
    </p:spTree>
    <p:extLst>
      <p:ext uri="{BB962C8B-B14F-4D97-AF65-F5344CB8AC3E}">
        <p14:creationId xmlns:p14="http://schemas.microsoft.com/office/powerpoint/2010/main" val="2366740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308BD-3C1F-42FE-562B-CE0BCB4291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DA50C6-1CFE-AF6C-2963-E2CFE02BB92D}"/>
              </a:ext>
            </a:extLst>
          </p:cNvPr>
          <p:cNvSpPr>
            <a:spLocks noGrp="1"/>
          </p:cNvSpPr>
          <p:nvPr>
            <p:ph sz="half" idx="1"/>
          </p:nvPr>
        </p:nvSpPr>
        <p:spPr>
          <a:xfrm>
            <a:off x="744338" y="1446301"/>
            <a:ext cx="5181600" cy="5290959"/>
          </a:xfrm>
        </p:spPr>
        <p:txBody>
          <a:bodyPr>
            <a:normAutofit/>
          </a:bodyPr>
          <a:lstStyle/>
          <a:p>
            <a:pPr marL="0" indent="0">
              <a:lnSpc>
                <a:spcPct val="150000"/>
              </a:lnSpc>
              <a:buNone/>
            </a:pPr>
            <a:r>
              <a:rPr lang="en-GB" sz="1800" b="1" dirty="0">
                <a:latin typeface="Nexa Bold" panose="02000000000000000000" pitchFamily="50" charset="0"/>
              </a:rPr>
              <a:t>Running  the simulation</a:t>
            </a:r>
            <a:endParaRPr lang="en-GB" sz="1800" dirty="0"/>
          </a:p>
          <a:p>
            <a:pPr>
              <a:lnSpc>
                <a:spcPct val="150000"/>
              </a:lnSpc>
            </a:pPr>
            <a:r>
              <a:rPr lang="en-GB" sz="1600" dirty="0"/>
              <a:t>To publish a message to the gazebo-simulated robot from the terminal can be done as follows.</a:t>
            </a:r>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r>
              <a:rPr lang="en-GB" sz="1600" dirty="0"/>
              <a:t>The previous command will make the robot to run in a circle.</a:t>
            </a:r>
          </a:p>
          <a:p>
            <a:pPr>
              <a:lnSpc>
                <a:spcPct val="150000"/>
              </a:lnSpc>
            </a:pPr>
            <a:endParaRPr lang="en-GB" sz="1600" dirty="0"/>
          </a:p>
          <a:p>
            <a:pPr>
              <a:lnSpc>
                <a:spcPct val="150000"/>
              </a:lnSpc>
            </a:pPr>
            <a:endParaRPr lang="en-GB" sz="1600" dirty="0"/>
          </a:p>
          <a:p>
            <a:endParaRPr lang="en-GB" sz="1600" dirty="0"/>
          </a:p>
        </p:txBody>
      </p:sp>
      <p:sp>
        <p:nvSpPr>
          <p:cNvPr id="4" name="Title 3">
            <a:extLst>
              <a:ext uri="{FF2B5EF4-FFF2-40B4-BE49-F238E27FC236}">
                <a16:creationId xmlns:a16="http://schemas.microsoft.com/office/drawing/2014/main" id="{52F96B6F-6534-7046-8DEE-048CED9F6972}"/>
              </a:ext>
            </a:extLst>
          </p:cNvPr>
          <p:cNvSpPr>
            <a:spLocks noGrp="1"/>
          </p:cNvSpPr>
          <p:nvPr>
            <p:ph type="title"/>
          </p:nvPr>
        </p:nvSpPr>
        <p:spPr/>
        <p:txBody>
          <a:bodyPr/>
          <a:lstStyle/>
          <a:p>
            <a:r>
              <a:rPr lang="en-GB" dirty="0"/>
              <a:t>Gazebo simulation</a:t>
            </a:r>
          </a:p>
        </p:txBody>
      </p:sp>
      <p:sp>
        <p:nvSpPr>
          <p:cNvPr id="12" name="Rectangle 11">
            <a:extLst>
              <a:ext uri="{FF2B5EF4-FFF2-40B4-BE49-F238E27FC236}">
                <a16:creationId xmlns:a16="http://schemas.microsoft.com/office/drawing/2014/main" id="{129A6FB5-4E91-37D2-E001-9C3F71EED2B4}"/>
              </a:ext>
            </a:extLst>
          </p:cNvPr>
          <p:cNvSpPr/>
          <p:nvPr/>
        </p:nvSpPr>
        <p:spPr>
          <a:xfrm>
            <a:off x="484093" y="2995062"/>
            <a:ext cx="5854933" cy="201246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bg2">
                    <a:lumMod val="50000"/>
                  </a:schemeClr>
                </a:solidFill>
                <a:latin typeface="Consolas" panose="020B0609020204030204" pitchFamily="49" charset="0"/>
              </a:rPr>
              <a:t>$ ros2 topic pub /</a:t>
            </a:r>
            <a:r>
              <a:rPr lang="en-GB" sz="1400" dirty="0" err="1">
                <a:solidFill>
                  <a:schemeClr val="bg2">
                    <a:lumMod val="50000"/>
                  </a:schemeClr>
                </a:solidFill>
                <a:latin typeface="Consolas" panose="020B0609020204030204" pitchFamily="49" charset="0"/>
              </a:rPr>
              <a:t>cmd_vel</a:t>
            </a:r>
            <a:r>
              <a:rPr lang="en-GB" sz="1400" dirty="0">
                <a:solidFill>
                  <a:schemeClr val="bg2">
                    <a:lumMod val="50000"/>
                  </a:schemeClr>
                </a:solidFill>
                <a:latin typeface="Consolas" panose="020B0609020204030204" pitchFamily="49" charset="0"/>
              </a:rPr>
              <a:t> geometry_msgs/</a:t>
            </a:r>
            <a:r>
              <a:rPr lang="en-GB" sz="1400" dirty="0" err="1">
                <a:solidFill>
                  <a:schemeClr val="bg2">
                    <a:lumMod val="50000"/>
                  </a:schemeClr>
                </a:solidFill>
                <a:latin typeface="Consolas" panose="020B0609020204030204" pitchFamily="49" charset="0"/>
              </a:rPr>
              <a:t>msg</a:t>
            </a:r>
            <a:r>
              <a:rPr lang="en-GB" sz="1400" dirty="0">
                <a:solidFill>
                  <a:schemeClr val="bg2">
                    <a:lumMod val="50000"/>
                  </a:schemeClr>
                </a:solidFill>
                <a:latin typeface="Consolas" panose="020B0609020204030204" pitchFamily="49" charset="0"/>
              </a:rPr>
              <a:t>/Twist "linear:</a:t>
            </a:r>
          </a:p>
          <a:p>
            <a:pPr marL="90488" lvl="1">
              <a:tabLst>
                <a:tab pos="180975" algn="l"/>
              </a:tabLst>
            </a:pPr>
            <a:r>
              <a:rPr lang="en-GB" sz="1400" dirty="0">
                <a:solidFill>
                  <a:schemeClr val="bg2">
                    <a:lumMod val="50000"/>
                  </a:schemeClr>
                </a:solidFill>
                <a:latin typeface="Consolas" panose="020B0609020204030204" pitchFamily="49" charset="0"/>
              </a:rPr>
              <a:t>  x: 0.3</a:t>
            </a:r>
          </a:p>
          <a:p>
            <a:pPr marL="90488" lvl="1">
              <a:tabLst>
                <a:tab pos="180975" algn="l"/>
              </a:tabLst>
            </a:pPr>
            <a:r>
              <a:rPr lang="en-GB" sz="1400" dirty="0">
                <a:solidFill>
                  <a:schemeClr val="bg2">
                    <a:lumMod val="50000"/>
                  </a:schemeClr>
                </a:solidFill>
                <a:latin typeface="Consolas" panose="020B0609020204030204" pitchFamily="49" charset="0"/>
              </a:rPr>
              <a:t>  y: 0.0</a:t>
            </a:r>
          </a:p>
          <a:p>
            <a:pPr marL="90488" lvl="1">
              <a:tabLst>
                <a:tab pos="180975" algn="l"/>
              </a:tabLst>
            </a:pPr>
            <a:r>
              <a:rPr lang="en-GB" sz="1400" dirty="0">
                <a:solidFill>
                  <a:schemeClr val="bg2">
                    <a:lumMod val="50000"/>
                  </a:schemeClr>
                </a:solidFill>
                <a:latin typeface="Consolas" panose="020B0609020204030204" pitchFamily="49" charset="0"/>
              </a:rPr>
              <a:t>  z: 0.0</a:t>
            </a:r>
          </a:p>
          <a:p>
            <a:pPr marL="90488" lvl="1">
              <a:tabLst>
                <a:tab pos="180975" algn="l"/>
              </a:tabLst>
            </a:pPr>
            <a:r>
              <a:rPr lang="en-GB" sz="1400" dirty="0">
                <a:solidFill>
                  <a:schemeClr val="bg2">
                    <a:lumMod val="50000"/>
                  </a:schemeClr>
                </a:solidFill>
                <a:latin typeface="Consolas" panose="020B0609020204030204" pitchFamily="49" charset="0"/>
              </a:rPr>
              <a:t>angular:</a:t>
            </a:r>
          </a:p>
          <a:p>
            <a:pPr marL="90488" lvl="1">
              <a:tabLst>
                <a:tab pos="180975" algn="l"/>
              </a:tabLst>
            </a:pPr>
            <a:r>
              <a:rPr lang="en-GB" sz="1400" dirty="0">
                <a:solidFill>
                  <a:schemeClr val="bg2">
                    <a:lumMod val="50000"/>
                  </a:schemeClr>
                </a:solidFill>
                <a:latin typeface="Consolas" panose="020B0609020204030204" pitchFamily="49" charset="0"/>
              </a:rPr>
              <a:t>  x: 0.0</a:t>
            </a:r>
          </a:p>
          <a:p>
            <a:pPr marL="90488" lvl="1">
              <a:tabLst>
                <a:tab pos="180975" algn="l"/>
              </a:tabLst>
            </a:pPr>
            <a:r>
              <a:rPr lang="en-GB" sz="1400" dirty="0">
                <a:solidFill>
                  <a:schemeClr val="bg2">
                    <a:lumMod val="50000"/>
                  </a:schemeClr>
                </a:solidFill>
                <a:latin typeface="Consolas" panose="020B0609020204030204" pitchFamily="49" charset="0"/>
              </a:rPr>
              <a:t>  y: 0.0</a:t>
            </a:r>
          </a:p>
          <a:p>
            <a:pPr marL="90488" lvl="1">
              <a:tabLst>
                <a:tab pos="180975" algn="l"/>
              </a:tabLst>
            </a:pPr>
            <a:r>
              <a:rPr lang="en-GB" sz="1400" dirty="0">
                <a:solidFill>
                  <a:schemeClr val="bg2">
                    <a:lumMod val="50000"/>
                  </a:schemeClr>
                </a:solidFill>
                <a:latin typeface="Consolas" panose="020B0609020204030204" pitchFamily="49" charset="0"/>
              </a:rPr>
              <a:t>  z: 0.3"</a:t>
            </a:r>
          </a:p>
        </p:txBody>
      </p:sp>
      <p:pic>
        <p:nvPicPr>
          <p:cNvPr id="8" name="Content Placeholder 7">
            <a:extLst>
              <a:ext uri="{FF2B5EF4-FFF2-40B4-BE49-F238E27FC236}">
                <a16:creationId xmlns:a16="http://schemas.microsoft.com/office/drawing/2014/main" id="{BCB76AA2-C22B-DF9F-9C92-E3023DD9FAB0}"/>
              </a:ext>
            </a:extLst>
          </p:cNvPr>
          <p:cNvPicPr>
            <a:picLocks noGrp="1" noChangeAspect="1"/>
          </p:cNvPicPr>
          <p:nvPr>
            <p:ph sz="half" idx="2"/>
          </p:nvPr>
        </p:nvPicPr>
        <p:blipFill>
          <a:blip r:embed="rId2"/>
          <a:stretch>
            <a:fillRect/>
          </a:stretch>
        </p:blipFill>
        <p:spPr>
          <a:xfrm>
            <a:off x="6599271" y="1978340"/>
            <a:ext cx="5181600" cy="4045906"/>
          </a:xfrm>
        </p:spPr>
      </p:pic>
    </p:spTree>
    <p:extLst>
      <p:ext uri="{BB962C8B-B14F-4D97-AF65-F5344CB8AC3E}">
        <p14:creationId xmlns:p14="http://schemas.microsoft.com/office/powerpoint/2010/main" val="3971166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B39FF-2B56-2B03-A605-E5174960149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27774E5-7674-F118-E807-AEE719865678}"/>
                  </a:ext>
                </a:extLst>
              </p:cNvPr>
              <p:cNvSpPr>
                <a:spLocks noGrp="1"/>
              </p:cNvSpPr>
              <p:nvPr>
                <p:ph sz="half" idx="1"/>
              </p:nvPr>
            </p:nvSpPr>
            <p:spPr/>
            <p:txBody>
              <a:bodyPr>
                <a:normAutofit/>
              </a:bodyPr>
              <a:lstStyle/>
              <a:p>
                <a:pPr marL="0" indent="0">
                  <a:lnSpc>
                    <a:spcPct val="150000"/>
                  </a:lnSpc>
                  <a:buNone/>
                </a:pPr>
                <a:r>
                  <a:rPr lang="en-GB" sz="1800" b="1" dirty="0">
                    <a:latin typeface="Nexa Bold" panose="02000000000000000000" pitchFamily="50" charset="0"/>
                  </a:rPr>
                  <a:t>Running  the simulation</a:t>
                </a:r>
                <a:endParaRPr lang="en-GB" sz="1800" dirty="0"/>
              </a:p>
              <a:p>
                <a:pPr>
                  <a:lnSpc>
                    <a:spcPct val="150000"/>
                  </a:lnSpc>
                </a:pPr>
                <a:r>
                  <a:rPr lang="en-GB" sz="1600" dirty="0"/>
                  <a:t>To obtain the wheel speed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𝜔</m:t>
                        </m:r>
                      </m:e>
                      <m:sub>
                        <m:r>
                          <a:rPr lang="en-GB" sz="1600" b="0" i="1" smtClean="0">
                            <a:latin typeface="Cambria Math" panose="02040503050406030204" pitchFamily="18" charset="0"/>
                          </a:rPr>
                          <m:t>𝑟</m:t>
                        </m:r>
                      </m:sub>
                    </m:sSub>
                    <m:r>
                      <a:rPr lang="en-GB" sz="1600" b="0" i="1" smtClean="0">
                        <a:latin typeface="Cambria Math" panose="02040503050406030204" pitchFamily="18" charset="0"/>
                      </a:rPr>
                      <m:t>, </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𝜔</m:t>
                        </m:r>
                      </m:e>
                      <m:sub>
                        <m:r>
                          <a:rPr lang="en-GB" sz="1600" b="0" i="1" smtClean="0">
                            <a:latin typeface="Cambria Math" panose="02040503050406030204" pitchFamily="18" charset="0"/>
                          </a:rPr>
                          <m:t>𝑙</m:t>
                        </m:r>
                      </m:sub>
                    </m:sSub>
                  </m:oMath>
                </a14:m>
                <a:r>
                  <a:rPr lang="en-GB" sz="1600" dirty="0"/>
                  <a:t>) from the robot, the following topics must be used</a:t>
                </a:r>
              </a:p>
              <a:p>
                <a:pPr>
                  <a:lnSpc>
                    <a:spcPct val="150000"/>
                  </a:lnSpc>
                </a:pPr>
                <a:endParaRPr lang="en-GB" sz="1600" dirty="0"/>
              </a:p>
              <a:p>
                <a:pPr>
                  <a:lnSpc>
                    <a:spcPct val="150000"/>
                  </a:lnSpc>
                </a:pPr>
                <a:r>
                  <a:rPr lang="en-GB" sz="1600" dirty="0"/>
                  <a:t>Getting the wheel velocities from the robot is done using the following command</a:t>
                </a:r>
              </a:p>
              <a:p>
                <a:pPr>
                  <a:lnSpc>
                    <a:spcPct val="150000"/>
                  </a:lnSpc>
                </a:pPr>
                <a:endParaRPr lang="en-GB" sz="1600" dirty="0"/>
              </a:p>
              <a:p>
                <a:pPr>
                  <a:lnSpc>
                    <a:spcPct val="150000"/>
                  </a:lnSpc>
                </a:pPr>
                <a:r>
                  <a:rPr lang="en-GB" sz="1600" dirty="0"/>
                  <a:t>The topic uses a </a:t>
                </a:r>
                <a:r>
                  <a:rPr lang="en-GB" sz="1600" dirty="0" err="1"/>
                  <a:t>std_msg</a:t>
                </a:r>
                <a:r>
                  <a:rPr lang="en-GB" sz="1600" dirty="0"/>
                  <a:t>/Float32 message.</a:t>
                </a:r>
              </a:p>
              <a:p>
                <a:endParaRPr lang="en-GB" sz="1600" dirty="0"/>
              </a:p>
            </p:txBody>
          </p:sp>
        </mc:Choice>
        <mc:Fallback xmlns="">
          <p:sp>
            <p:nvSpPr>
              <p:cNvPr id="2" name="Content Placeholder 1">
                <a:extLst>
                  <a:ext uri="{FF2B5EF4-FFF2-40B4-BE49-F238E27FC236}">
                    <a16:creationId xmlns:a16="http://schemas.microsoft.com/office/drawing/2014/main" id="{027774E5-7674-F118-E807-AEE719865678}"/>
                  </a:ext>
                </a:extLst>
              </p:cNvPr>
              <p:cNvSpPr>
                <a:spLocks noGrp="1" noRot="1" noChangeAspect="1" noMove="1" noResize="1" noEditPoints="1" noAdjustHandles="1" noChangeArrowheads="1" noChangeShapeType="1" noTextEdit="1"/>
              </p:cNvSpPr>
              <p:nvPr>
                <p:ph sz="half" idx="1"/>
              </p:nvPr>
            </p:nvSpPr>
            <p:spPr>
              <a:blipFill>
                <a:blip r:embed="rId2"/>
                <a:stretch>
                  <a:fillRect l="-1059"/>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DA1B74B6-93D8-83BF-4C60-85F763C82948}"/>
              </a:ext>
            </a:extLst>
          </p:cNvPr>
          <p:cNvSpPr>
            <a:spLocks noGrp="1"/>
          </p:cNvSpPr>
          <p:nvPr>
            <p:ph type="title"/>
          </p:nvPr>
        </p:nvSpPr>
        <p:spPr/>
        <p:txBody>
          <a:bodyPr/>
          <a:lstStyle/>
          <a:p>
            <a:r>
              <a:rPr lang="en-GB" dirty="0"/>
              <a:t>Gazebo simulation</a:t>
            </a:r>
          </a:p>
        </p:txBody>
      </p:sp>
      <p:sp>
        <p:nvSpPr>
          <p:cNvPr id="3" name="Rectangle 2">
            <a:extLst>
              <a:ext uri="{FF2B5EF4-FFF2-40B4-BE49-F238E27FC236}">
                <a16:creationId xmlns:a16="http://schemas.microsoft.com/office/drawing/2014/main" id="{C9945DC1-4E7E-0808-8AA0-21195F0E809E}"/>
              </a:ext>
            </a:extLst>
          </p:cNvPr>
          <p:cNvSpPr/>
          <p:nvPr/>
        </p:nvSpPr>
        <p:spPr>
          <a:xfrm>
            <a:off x="838200" y="3322419"/>
            <a:ext cx="5181600" cy="496546"/>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a:t>
            </a:r>
            <a:r>
              <a:rPr lang="en-GB" sz="1400" dirty="0" err="1">
                <a:solidFill>
                  <a:schemeClr val="tx1"/>
                </a:solidFill>
                <a:latin typeface="Consolas" panose="020B0609020204030204" pitchFamily="49" charset="0"/>
              </a:rPr>
              <a:t>VelocityEncR</a:t>
            </a:r>
            <a:endParaRPr lang="en-GB" sz="1400" dirty="0">
              <a:solidFill>
                <a:schemeClr val="tx1"/>
              </a:solidFill>
              <a:latin typeface="Consolas" panose="020B0609020204030204" pitchFamily="49" charset="0"/>
            </a:endParaRPr>
          </a:p>
          <a:p>
            <a:pPr marL="90488" lvl="1">
              <a:tabLst>
                <a:tab pos="180975" algn="l"/>
              </a:tabLst>
            </a:pPr>
            <a:r>
              <a:rPr lang="en-GB" sz="1400" dirty="0">
                <a:solidFill>
                  <a:schemeClr val="tx1"/>
                </a:solidFill>
                <a:latin typeface="Consolas" panose="020B0609020204030204" pitchFamily="49" charset="0"/>
              </a:rPr>
              <a:t>/</a:t>
            </a:r>
            <a:r>
              <a:rPr lang="en-GB" sz="1400" dirty="0" err="1">
                <a:solidFill>
                  <a:schemeClr val="tx1"/>
                </a:solidFill>
                <a:latin typeface="Consolas" panose="020B0609020204030204" pitchFamily="49" charset="0"/>
              </a:rPr>
              <a:t>VelocityEncL</a:t>
            </a:r>
            <a:endParaRPr lang="en-GB" sz="1400" dirty="0">
              <a:solidFill>
                <a:schemeClr val="tx1"/>
              </a:solidFill>
              <a:latin typeface="Consolas" panose="020B0609020204030204" pitchFamily="49" charset="0"/>
            </a:endParaRPr>
          </a:p>
        </p:txBody>
      </p:sp>
      <p:sp>
        <p:nvSpPr>
          <p:cNvPr id="12" name="Rectangle 11">
            <a:extLst>
              <a:ext uri="{FF2B5EF4-FFF2-40B4-BE49-F238E27FC236}">
                <a16:creationId xmlns:a16="http://schemas.microsoft.com/office/drawing/2014/main" id="{C62E2653-928F-3FF4-9333-62F039B98869}"/>
              </a:ext>
            </a:extLst>
          </p:cNvPr>
          <p:cNvSpPr/>
          <p:nvPr/>
        </p:nvSpPr>
        <p:spPr>
          <a:xfrm>
            <a:off x="838200" y="4648713"/>
            <a:ext cx="5181600" cy="189736"/>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 ros2 topic echo /</a:t>
            </a:r>
            <a:r>
              <a:rPr lang="en-GB" sz="1400" dirty="0" err="1">
                <a:solidFill>
                  <a:schemeClr val="tx1"/>
                </a:solidFill>
                <a:latin typeface="Consolas" panose="020B0609020204030204" pitchFamily="49" charset="0"/>
              </a:rPr>
              <a:t>VelocityEncR</a:t>
            </a:r>
            <a:endParaRPr lang="en-GB" sz="1400" dirty="0">
              <a:solidFill>
                <a:schemeClr val="tx1"/>
              </a:solidFill>
              <a:latin typeface="Consolas" panose="020B0609020204030204" pitchFamily="49" charset="0"/>
            </a:endParaRPr>
          </a:p>
        </p:txBody>
      </p:sp>
      <p:sp>
        <p:nvSpPr>
          <p:cNvPr id="13" name="Rectangle 12">
            <a:extLst>
              <a:ext uri="{FF2B5EF4-FFF2-40B4-BE49-F238E27FC236}">
                <a16:creationId xmlns:a16="http://schemas.microsoft.com/office/drawing/2014/main" id="{1656E83C-F079-823D-46A5-77B6B46F188E}"/>
              </a:ext>
            </a:extLst>
          </p:cNvPr>
          <p:cNvSpPr/>
          <p:nvPr/>
        </p:nvSpPr>
        <p:spPr>
          <a:xfrm>
            <a:off x="838200" y="5594064"/>
            <a:ext cx="5181600" cy="550528"/>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Topic: /</a:t>
            </a:r>
            <a:r>
              <a:rPr lang="en-GB" sz="1400" dirty="0" err="1">
                <a:solidFill>
                  <a:schemeClr val="tx1"/>
                </a:solidFill>
                <a:latin typeface="Consolas" panose="020B0609020204030204" pitchFamily="49" charset="0"/>
              </a:rPr>
              <a:t>VelocityEncR</a:t>
            </a:r>
            <a:endParaRPr lang="en-GB" sz="1400" dirty="0">
              <a:solidFill>
                <a:schemeClr val="tx1"/>
              </a:solidFill>
              <a:latin typeface="Consolas" panose="020B0609020204030204" pitchFamily="49" charset="0"/>
            </a:endParaRPr>
          </a:p>
          <a:p>
            <a:pPr marL="90488" lvl="1">
              <a:tabLst>
                <a:tab pos="180975" algn="l"/>
              </a:tabLst>
            </a:pPr>
            <a:r>
              <a:rPr lang="en-GB" sz="1400" dirty="0">
                <a:solidFill>
                  <a:schemeClr val="tx1"/>
                </a:solidFill>
                <a:latin typeface="Consolas" panose="020B0609020204030204" pitchFamily="49" charset="0"/>
              </a:rPr>
              <a:t>Message: std_msgs/Float32</a:t>
            </a:r>
            <a:endParaRPr lang="en-GB" sz="1600" dirty="0">
              <a:solidFill>
                <a:schemeClr val="tx1"/>
              </a:solidFill>
              <a:latin typeface="Nexa-Light" panose="01000000000000000000" pitchFamily="2" charset="0"/>
            </a:endParaRPr>
          </a:p>
        </p:txBody>
      </p:sp>
      <p:pic>
        <p:nvPicPr>
          <p:cNvPr id="8" name="Content Placeholder 7">
            <a:extLst>
              <a:ext uri="{FF2B5EF4-FFF2-40B4-BE49-F238E27FC236}">
                <a16:creationId xmlns:a16="http://schemas.microsoft.com/office/drawing/2014/main" id="{742800A1-8D03-53C8-C617-661AD200F3E6}"/>
              </a:ext>
            </a:extLst>
          </p:cNvPr>
          <p:cNvPicPr>
            <a:picLocks noGrp="1" noChangeAspect="1"/>
          </p:cNvPicPr>
          <p:nvPr>
            <p:ph sz="half" idx="2"/>
          </p:nvPr>
        </p:nvPicPr>
        <p:blipFill>
          <a:blip r:embed="rId3"/>
          <a:stretch>
            <a:fillRect/>
          </a:stretch>
        </p:blipFill>
        <p:spPr>
          <a:xfrm>
            <a:off x="6976813" y="2772397"/>
            <a:ext cx="3572374" cy="2457793"/>
          </a:xfrm>
        </p:spPr>
      </p:pic>
    </p:spTree>
    <p:extLst>
      <p:ext uri="{BB962C8B-B14F-4D97-AF65-F5344CB8AC3E}">
        <p14:creationId xmlns:p14="http://schemas.microsoft.com/office/powerpoint/2010/main" val="3656665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F21157-BBAE-51E5-DFA3-86332C0DCEC6}"/>
              </a:ext>
            </a:extLst>
          </p:cNvPr>
          <p:cNvSpPr>
            <a:spLocks noGrp="1"/>
          </p:cNvSpPr>
          <p:nvPr>
            <p:ph type="title"/>
          </p:nvPr>
        </p:nvSpPr>
        <p:spPr/>
        <p:txBody>
          <a:bodyPr/>
          <a:lstStyle/>
          <a:p>
            <a:r>
              <a:rPr lang="en-GB" dirty="0"/>
              <a:t>Robot Teleoperation</a:t>
            </a:r>
          </a:p>
        </p:txBody>
      </p:sp>
      <p:sp>
        <p:nvSpPr>
          <p:cNvPr id="7" name="Content Placeholder 6">
            <a:extLst>
              <a:ext uri="{FF2B5EF4-FFF2-40B4-BE49-F238E27FC236}">
                <a16:creationId xmlns:a16="http://schemas.microsoft.com/office/drawing/2014/main" id="{0C910F93-58C3-ADA1-4A19-A42218AD0D0A}"/>
              </a:ext>
            </a:extLst>
          </p:cNvPr>
          <p:cNvSpPr>
            <a:spLocks noGrp="1"/>
          </p:cNvSpPr>
          <p:nvPr>
            <p:ph idx="1"/>
          </p:nvPr>
        </p:nvSpPr>
        <p:spPr/>
        <p:txBody>
          <a:bodyPr>
            <a:normAutofit/>
          </a:bodyPr>
          <a:lstStyle/>
          <a:p>
            <a:r>
              <a:rPr lang="en-GB" sz="1600" dirty="0"/>
              <a:t>Install the teleoperation package</a:t>
            </a:r>
          </a:p>
          <a:p>
            <a:endParaRPr lang="en-GB" sz="1600" dirty="0"/>
          </a:p>
          <a:p>
            <a:r>
              <a:rPr lang="en-GB" sz="1600" dirty="0"/>
              <a:t>Run the gazebo simulator as described before</a:t>
            </a:r>
          </a:p>
          <a:p>
            <a:endParaRPr lang="en-GB" sz="1600" dirty="0"/>
          </a:p>
          <a:p>
            <a:r>
              <a:rPr lang="en-GB" sz="1600" dirty="0"/>
              <a:t>In another terminal, run the teleoperation node as follows</a:t>
            </a:r>
          </a:p>
          <a:p>
            <a:endParaRPr lang="en-GB" sz="1600" dirty="0"/>
          </a:p>
          <a:p>
            <a:endParaRPr lang="en-GB" sz="1600" dirty="0"/>
          </a:p>
          <a:p>
            <a:endParaRPr lang="en-GB" sz="1600" dirty="0"/>
          </a:p>
          <a:p>
            <a:r>
              <a:rPr lang="en-GB" sz="1600" dirty="0"/>
              <a:t>Control the robot using the keyboard (</a:t>
            </a:r>
            <a:r>
              <a:rPr lang="en-GB" sz="1600" dirty="0" err="1"/>
              <a:t>i</a:t>
            </a:r>
            <a:r>
              <a:rPr lang="en-GB" sz="1600" dirty="0"/>
              <a:t>, j, l, k) as described on the terminal.</a:t>
            </a:r>
          </a:p>
        </p:txBody>
      </p:sp>
      <p:sp>
        <p:nvSpPr>
          <p:cNvPr id="6" name="Rectangle 5">
            <a:extLst>
              <a:ext uri="{FF2B5EF4-FFF2-40B4-BE49-F238E27FC236}">
                <a16:creationId xmlns:a16="http://schemas.microsoft.com/office/drawing/2014/main" id="{60AA47A1-FD00-B662-C17E-F858499B329F}"/>
              </a:ext>
            </a:extLst>
          </p:cNvPr>
          <p:cNvSpPr/>
          <p:nvPr/>
        </p:nvSpPr>
        <p:spPr>
          <a:xfrm>
            <a:off x="838196" y="3697152"/>
            <a:ext cx="10515599" cy="25428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ros2 run </a:t>
            </a:r>
            <a:r>
              <a:rPr lang="en-GB" sz="1400" dirty="0" err="1">
                <a:solidFill>
                  <a:schemeClr val="tx1"/>
                </a:solidFill>
                <a:latin typeface="Consolas" panose="020B0609020204030204" pitchFamily="49" charset="0"/>
              </a:rPr>
              <a:t>teleop_twist_keyboard</a:t>
            </a:r>
            <a:r>
              <a:rPr lang="en-GB" sz="1400" dirty="0">
                <a:solidFill>
                  <a:schemeClr val="tx1"/>
                </a:solidFill>
                <a:latin typeface="Consolas" panose="020B0609020204030204" pitchFamily="49" charset="0"/>
              </a:rPr>
              <a:t> </a:t>
            </a:r>
            <a:r>
              <a:rPr lang="en-GB" sz="1400" dirty="0" err="1">
                <a:solidFill>
                  <a:schemeClr val="tx1"/>
                </a:solidFill>
                <a:latin typeface="Consolas" panose="020B0609020204030204" pitchFamily="49" charset="0"/>
              </a:rPr>
              <a:t>teleop_twist_keyboard</a:t>
            </a:r>
            <a:endParaRPr lang="en-GB" sz="1400" dirty="0">
              <a:solidFill>
                <a:schemeClr val="tx1"/>
              </a:solidFill>
              <a:latin typeface="Consolas" panose="020B0609020204030204" pitchFamily="49" charset="0"/>
            </a:endParaRPr>
          </a:p>
        </p:txBody>
      </p:sp>
      <p:sp>
        <p:nvSpPr>
          <p:cNvPr id="8" name="Rectangle 7">
            <a:extLst>
              <a:ext uri="{FF2B5EF4-FFF2-40B4-BE49-F238E27FC236}">
                <a16:creationId xmlns:a16="http://schemas.microsoft.com/office/drawing/2014/main" id="{F68BC6D4-6C9D-7A95-68EE-AB35E791483E}"/>
              </a:ext>
            </a:extLst>
          </p:cNvPr>
          <p:cNvSpPr/>
          <p:nvPr/>
        </p:nvSpPr>
        <p:spPr>
          <a:xfrm>
            <a:off x="838198" y="2236025"/>
            <a:ext cx="10515599" cy="210448"/>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sudo apt-get install </a:t>
            </a:r>
            <a:r>
              <a:rPr lang="en-GB" sz="1400" dirty="0" err="1">
                <a:solidFill>
                  <a:schemeClr val="tx1"/>
                </a:solidFill>
                <a:latin typeface="Consolas" panose="020B0609020204030204" pitchFamily="49" charset="0"/>
              </a:rPr>
              <a:t>ros</a:t>
            </a:r>
            <a:r>
              <a:rPr lang="en-GB" sz="1400" dirty="0">
                <a:solidFill>
                  <a:schemeClr val="tx1"/>
                </a:solidFill>
                <a:latin typeface="Consolas" panose="020B0609020204030204" pitchFamily="49" charset="0"/>
              </a:rPr>
              <a:t>-humble-</a:t>
            </a:r>
            <a:r>
              <a:rPr lang="en-GB" sz="1400" dirty="0" err="1">
                <a:solidFill>
                  <a:schemeClr val="tx1"/>
                </a:solidFill>
                <a:latin typeface="Consolas" panose="020B0609020204030204" pitchFamily="49" charset="0"/>
              </a:rPr>
              <a:t>teleop</a:t>
            </a:r>
            <a:r>
              <a:rPr lang="en-GB" sz="1400" dirty="0">
                <a:solidFill>
                  <a:schemeClr val="tx1"/>
                </a:solidFill>
                <a:latin typeface="Consolas" panose="020B0609020204030204" pitchFamily="49" charset="0"/>
              </a:rPr>
              <a:t>-twist-keyboard</a:t>
            </a:r>
          </a:p>
        </p:txBody>
      </p:sp>
      <p:sp>
        <p:nvSpPr>
          <p:cNvPr id="9" name="Rectangle 8">
            <a:extLst>
              <a:ext uri="{FF2B5EF4-FFF2-40B4-BE49-F238E27FC236}">
                <a16:creationId xmlns:a16="http://schemas.microsoft.com/office/drawing/2014/main" id="{B5D2E429-1192-4E88-7BE0-D5F213B31135}"/>
              </a:ext>
            </a:extLst>
          </p:cNvPr>
          <p:cNvSpPr/>
          <p:nvPr/>
        </p:nvSpPr>
        <p:spPr>
          <a:xfrm>
            <a:off x="838197" y="2906567"/>
            <a:ext cx="10515599" cy="25428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 ros2 launch </a:t>
            </a:r>
            <a:r>
              <a:rPr lang="en-GB" sz="1400" dirty="0" err="1">
                <a:solidFill>
                  <a:schemeClr val="tx1"/>
                </a:solidFill>
                <a:latin typeface="Consolas" panose="020B0609020204030204" pitchFamily="49" charset="0"/>
              </a:rPr>
              <a:t>puzzlebot_gazebo</a:t>
            </a:r>
            <a:r>
              <a:rPr lang="en-GB" sz="1400" dirty="0">
                <a:solidFill>
                  <a:schemeClr val="tx1"/>
                </a:solidFill>
                <a:latin typeface="Consolas" panose="020B0609020204030204" pitchFamily="49" charset="0"/>
              </a:rPr>
              <a:t> bringup_simulation_launch.py</a:t>
            </a:r>
          </a:p>
        </p:txBody>
      </p:sp>
      <p:pic>
        <p:nvPicPr>
          <p:cNvPr id="3" name="Picture 2">
            <a:extLst>
              <a:ext uri="{FF2B5EF4-FFF2-40B4-BE49-F238E27FC236}">
                <a16:creationId xmlns:a16="http://schemas.microsoft.com/office/drawing/2014/main" id="{314074C3-DC13-D5BB-B781-B5AA8E34D50A}"/>
              </a:ext>
            </a:extLst>
          </p:cNvPr>
          <p:cNvPicPr>
            <a:picLocks noChangeAspect="1"/>
          </p:cNvPicPr>
          <p:nvPr/>
        </p:nvPicPr>
        <p:blipFill>
          <a:blip r:embed="rId2"/>
          <a:stretch>
            <a:fillRect/>
          </a:stretch>
        </p:blipFill>
        <p:spPr>
          <a:xfrm>
            <a:off x="8964706" y="4560854"/>
            <a:ext cx="2688231" cy="2099030"/>
          </a:xfrm>
          <a:prstGeom prst="rect">
            <a:avLst/>
          </a:prstGeom>
        </p:spPr>
      </p:pic>
    </p:spTree>
    <p:extLst>
      <p:ext uri="{BB962C8B-B14F-4D97-AF65-F5344CB8AC3E}">
        <p14:creationId xmlns:p14="http://schemas.microsoft.com/office/powerpoint/2010/main" val="1540839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ACF5-E785-8EDA-6936-DD2FDF63EB53}"/>
              </a:ext>
            </a:extLst>
          </p:cNvPr>
          <p:cNvSpPr>
            <a:spLocks noGrp="1"/>
          </p:cNvSpPr>
          <p:nvPr>
            <p:ph type="ctrTitle"/>
          </p:nvPr>
        </p:nvSpPr>
        <p:spPr/>
        <p:txBody>
          <a:bodyPr/>
          <a:lstStyle/>
          <a:p>
            <a:r>
              <a:rPr lang="en-GB" dirty="0"/>
              <a:t>Puzzlebot Gazebo Simulator</a:t>
            </a:r>
          </a:p>
        </p:txBody>
      </p:sp>
      <p:sp>
        <p:nvSpPr>
          <p:cNvPr id="3" name="Subtitle 2">
            <a:extLst>
              <a:ext uri="{FF2B5EF4-FFF2-40B4-BE49-F238E27FC236}">
                <a16:creationId xmlns:a16="http://schemas.microsoft.com/office/drawing/2014/main" id="{EA83CA59-D0D7-65C6-031D-A5A86C74233B}"/>
              </a:ext>
            </a:extLst>
          </p:cNvPr>
          <p:cNvSpPr>
            <a:spLocks noGrp="1"/>
          </p:cNvSpPr>
          <p:nvPr>
            <p:ph type="subTitle" idx="1"/>
          </p:nvPr>
        </p:nvSpPr>
        <p:spPr/>
        <p:txBody>
          <a:bodyPr/>
          <a:lstStyle/>
          <a:p>
            <a:r>
              <a:rPr lang="en-GB" dirty="0"/>
              <a:t>Advanced Features</a:t>
            </a:r>
          </a:p>
        </p:txBody>
      </p:sp>
    </p:spTree>
    <p:extLst>
      <p:ext uri="{BB962C8B-B14F-4D97-AF65-F5344CB8AC3E}">
        <p14:creationId xmlns:p14="http://schemas.microsoft.com/office/powerpoint/2010/main" val="3780250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A5F773-1FD8-0915-BF66-0981033B31DE}"/>
              </a:ext>
            </a:extLst>
          </p:cNvPr>
          <p:cNvSpPr>
            <a:spLocks noGrp="1"/>
          </p:cNvSpPr>
          <p:nvPr>
            <p:ph sz="half" idx="1"/>
          </p:nvPr>
        </p:nvSpPr>
        <p:spPr/>
        <p:txBody>
          <a:bodyPr/>
          <a:lstStyle/>
          <a:p>
            <a:pPr marL="0" indent="0">
              <a:lnSpc>
                <a:spcPct val="150000"/>
              </a:lnSpc>
              <a:buNone/>
            </a:pPr>
            <a:r>
              <a:rPr lang="en-GB" sz="2000" b="1" dirty="0">
                <a:latin typeface="Nexa Bold" panose="02000000000000000000" pitchFamily="50" charset="0"/>
              </a:rPr>
              <a:t>Simulation Configuration</a:t>
            </a:r>
          </a:p>
          <a:p>
            <a:pPr>
              <a:lnSpc>
                <a:spcPct val="150000"/>
              </a:lnSpc>
            </a:pPr>
            <a:r>
              <a:rPr lang="en-GB" sz="1600" dirty="0"/>
              <a:t>The simulator can be configured from the file “bringup_simulation_launch.py”</a:t>
            </a:r>
          </a:p>
          <a:p>
            <a:pPr>
              <a:lnSpc>
                <a:spcPct val="150000"/>
              </a:lnSpc>
            </a:pPr>
            <a:r>
              <a:rPr lang="en-GB" sz="1600" dirty="0"/>
              <a:t>The configuration is defined in the section “SIMULATION CONFIGURATION”</a:t>
            </a:r>
          </a:p>
          <a:p>
            <a:pPr>
              <a:lnSpc>
                <a:spcPct val="150000"/>
              </a:lnSpc>
            </a:pPr>
            <a:r>
              <a:rPr lang="en-GB" sz="1600" dirty="0"/>
              <a:t>In this section, the user can configure the world to be used, the robot type and the position of the robot, as well as the frames for each sensor (if applicable).</a:t>
            </a:r>
          </a:p>
          <a:p>
            <a:pPr>
              <a:lnSpc>
                <a:spcPct val="150000"/>
              </a:lnSpc>
            </a:pPr>
            <a:endParaRPr lang="en-GB" sz="1600" dirty="0"/>
          </a:p>
        </p:txBody>
      </p:sp>
      <p:pic>
        <p:nvPicPr>
          <p:cNvPr id="6" name="Content Placeholder 5">
            <a:extLst>
              <a:ext uri="{FF2B5EF4-FFF2-40B4-BE49-F238E27FC236}">
                <a16:creationId xmlns:a16="http://schemas.microsoft.com/office/drawing/2014/main" id="{B5CFA9A7-9E72-A830-8B3D-D42C3A72D197}"/>
              </a:ext>
            </a:extLst>
          </p:cNvPr>
          <p:cNvPicPr>
            <a:picLocks noGrp="1" noChangeAspect="1"/>
          </p:cNvPicPr>
          <p:nvPr>
            <p:ph sz="half" idx="2"/>
          </p:nvPr>
        </p:nvPicPr>
        <p:blipFill>
          <a:blip r:embed="rId2"/>
          <a:stretch>
            <a:fillRect/>
          </a:stretch>
        </p:blipFill>
        <p:spPr>
          <a:xfrm>
            <a:off x="6172200" y="2163060"/>
            <a:ext cx="5181600" cy="3676468"/>
          </a:xfrm>
        </p:spPr>
      </p:pic>
      <p:sp>
        <p:nvSpPr>
          <p:cNvPr id="4" name="Title 3">
            <a:extLst>
              <a:ext uri="{FF2B5EF4-FFF2-40B4-BE49-F238E27FC236}">
                <a16:creationId xmlns:a16="http://schemas.microsoft.com/office/drawing/2014/main" id="{F12127E2-B913-6603-5415-CE4BF184B6A0}"/>
              </a:ext>
            </a:extLst>
          </p:cNvPr>
          <p:cNvSpPr>
            <a:spLocks noGrp="1"/>
          </p:cNvSpPr>
          <p:nvPr>
            <p:ph type="title"/>
          </p:nvPr>
        </p:nvSpPr>
        <p:spPr/>
        <p:txBody>
          <a:bodyPr/>
          <a:lstStyle/>
          <a:p>
            <a:r>
              <a:rPr lang="en-GB" dirty="0"/>
              <a:t>Simulator Configuration</a:t>
            </a:r>
          </a:p>
        </p:txBody>
      </p:sp>
    </p:spTree>
    <p:extLst>
      <p:ext uri="{BB962C8B-B14F-4D97-AF65-F5344CB8AC3E}">
        <p14:creationId xmlns:p14="http://schemas.microsoft.com/office/powerpoint/2010/main" val="1449924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D04448-9B0A-86EF-6987-F33E6C436B3C}"/>
              </a:ext>
            </a:extLst>
          </p:cNvPr>
          <p:cNvSpPr>
            <a:spLocks noGrp="1"/>
          </p:cNvSpPr>
          <p:nvPr>
            <p:ph sz="half" idx="1"/>
          </p:nvPr>
        </p:nvSpPr>
        <p:spPr>
          <a:xfrm>
            <a:off x="318246" y="1825625"/>
            <a:ext cx="5181600" cy="4351338"/>
          </a:xfrm>
        </p:spPr>
        <p:txBody>
          <a:bodyPr/>
          <a:lstStyle/>
          <a:p>
            <a:pPr marL="0" indent="0">
              <a:lnSpc>
                <a:spcPct val="150000"/>
              </a:lnSpc>
              <a:buNone/>
            </a:pPr>
            <a:r>
              <a:rPr lang="en-GB" sz="1800" b="1" dirty="0">
                <a:latin typeface="Nexa Bold" panose="02000000000000000000" pitchFamily="50" charset="0"/>
              </a:rPr>
              <a:t>Puzzlebot Environments</a:t>
            </a:r>
          </a:p>
          <a:p>
            <a:pPr>
              <a:lnSpc>
                <a:spcPct val="150000"/>
              </a:lnSpc>
            </a:pPr>
            <a:r>
              <a:rPr lang="en-GB" sz="1600" dirty="0"/>
              <a:t>MCR2 provide different environments for the Puzzlebot to interact with.</a:t>
            </a:r>
          </a:p>
          <a:p>
            <a:pPr>
              <a:lnSpc>
                <a:spcPct val="150000"/>
              </a:lnSpc>
            </a:pPr>
            <a:r>
              <a:rPr lang="en-GB" sz="1600" dirty="0"/>
              <a:t>The available environments are in the package “</a:t>
            </a:r>
            <a:r>
              <a:rPr lang="en-GB" sz="1600" i="1" dirty="0" err="1"/>
              <a:t>puzzlebot_gazebo</a:t>
            </a:r>
            <a:r>
              <a:rPr lang="en-GB" sz="1600" dirty="0"/>
              <a:t>” in the folder “</a:t>
            </a:r>
            <a:r>
              <a:rPr lang="en-GB" sz="1600" i="1" dirty="0"/>
              <a:t>worlds</a:t>
            </a:r>
            <a:r>
              <a:rPr lang="en-GB" sz="1600" dirty="0"/>
              <a:t>”.</a:t>
            </a:r>
          </a:p>
          <a:p>
            <a:pPr>
              <a:lnSpc>
                <a:spcPct val="150000"/>
              </a:lnSpc>
            </a:pPr>
            <a:r>
              <a:rPr lang="en-GB" sz="1600" dirty="0"/>
              <a:t>The world description files are the ones ending in “.world” or “.</a:t>
            </a:r>
            <a:r>
              <a:rPr lang="en-GB" sz="1600" dirty="0" err="1"/>
              <a:t>sdf</a:t>
            </a:r>
            <a:r>
              <a:rPr lang="en-GB" sz="1600" dirty="0"/>
              <a:t>”.</a:t>
            </a:r>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p:txBody>
      </p:sp>
      <p:sp>
        <p:nvSpPr>
          <p:cNvPr id="4" name="Title 3">
            <a:extLst>
              <a:ext uri="{FF2B5EF4-FFF2-40B4-BE49-F238E27FC236}">
                <a16:creationId xmlns:a16="http://schemas.microsoft.com/office/drawing/2014/main" id="{89F1C995-BE1F-2A65-8D67-5722A059EFD2}"/>
              </a:ext>
            </a:extLst>
          </p:cNvPr>
          <p:cNvSpPr>
            <a:spLocks noGrp="1"/>
          </p:cNvSpPr>
          <p:nvPr>
            <p:ph type="title"/>
          </p:nvPr>
        </p:nvSpPr>
        <p:spPr/>
        <p:txBody>
          <a:bodyPr/>
          <a:lstStyle/>
          <a:p>
            <a:r>
              <a:rPr lang="en-GB" dirty="0"/>
              <a:t>Changing the environment</a:t>
            </a:r>
          </a:p>
        </p:txBody>
      </p:sp>
      <p:sp>
        <p:nvSpPr>
          <p:cNvPr id="7" name="Content Placeholder 6">
            <a:extLst>
              <a:ext uri="{FF2B5EF4-FFF2-40B4-BE49-F238E27FC236}">
                <a16:creationId xmlns:a16="http://schemas.microsoft.com/office/drawing/2014/main" id="{F14F9EE1-9104-FDEF-AC79-BECAC21D7C3F}"/>
              </a:ext>
            </a:extLst>
          </p:cNvPr>
          <p:cNvSpPr>
            <a:spLocks noGrp="1"/>
          </p:cNvSpPr>
          <p:nvPr>
            <p:ph sz="half" idx="2"/>
          </p:nvPr>
        </p:nvSpPr>
        <p:spPr/>
        <p:txBody>
          <a:bodyPr>
            <a:normAutofit/>
          </a:bodyPr>
          <a:lstStyle/>
          <a:p>
            <a:pPr marL="0" indent="0">
              <a:lnSpc>
                <a:spcPct val="150000"/>
              </a:lnSpc>
              <a:buNone/>
            </a:pPr>
            <a:r>
              <a:rPr lang="en-GB" sz="1800" b="1" dirty="0">
                <a:latin typeface="Nexa Bold" panose="02000000000000000000" pitchFamily="50" charset="0"/>
              </a:rPr>
              <a:t>Changing the environment</a:t>
            </a:r>
            <a:endParaRPr lang="en-GB" sz="1800" dirty="0"/>
          </a:p>
          <a:p>
            <a:pPr>
              <a:lnSpc>
                <a:spcPct val="150000"/>
              </a:lnSpc>
            </a:pPr>
            <a:r>
              <a:rPr lang="en-GB" sz="1600" dirty="0"/>
              <a:t>Open the file “</a:t>
            </a:r>
            <a:r>
              <a:rPr lang="en-GB" sz="1600" i="1" dirty="0"/>
              <a:t>bringup_simulation_launch.py</a:t>
            </a:r>
            <a:r>
              <a:rPr lang="en-GB" sz="1600" dirty="0"/>
              <a:t>” in the “</a:t>
            </a:r>
            <a:r>
              <a:rPr lang="en-GB" sz="1600" i="1" dirty="0" err="1"/>
              <a:t>puzzlebot_gazebo</a:t>
            </a:r>
            <a:r>
              <a:rPr lang="en-GB" sz="1600" dirty="0"/>
              <a:t>” package.</a:t>
            </a:r>
          </a:p>
          <a:p>
            <a:pPr>
              <a:lnSpc>
                <a:spcPct val="150000"/>
              </a:lnSpc>
            </a:pPr>
            <a:endParaRPr lang="en-GB" sz="1600" b="1" dirty="0"/>
          </a:p>
          <a:p>
            <a:pPr>
              <a:lnSpc>
                <a:spcPct val="150000"/>
              </a:lnSpc>
            </a:pPr>
            <a:r>
              <a:rPr lang="en-GB" sz="1600" dirty="0"/>
              <a:t>Line 15 controls the environment to be used.</a:t>
            </a:r>
          </a:p>
          <a:p>
            <a:pPr>
              <a:lnSpc>
                <a:spcPct val="150000"/>
              </a:lnSpc>
            </a:pPr>
            <a:endParaRPr lang="en-GB" sz="1600" dirty="0"/>
          </a:p>
          <a:p>
            <a:pPr>
              <a:lnSpc>
                <a:spcPct val="150000"/>
              </a:lnSpc>
            </a:pPr>
            <a:r>
              <a:rPr lang="en-GB" sz="1600" dirty="0"/>
              <a:t>Change the value of the name in the default value by the name of the world you want to use.  </a:t>
            </a:r>
          </a:p>
          <a:p>
            <a:pPr>
              <a:lnSpc>
                <a:spcPct val="150000"/>
              </a:lnSpc>
            </a:pPr>
            <a:endParaRPr lang="en-GB" sz="1600" b="1" dirty="0"/>
          </a:p>
        </p:txBody>
      </p:sp>
      <p:sp>
        <p:nvSpPr>
          <p:cNvPr id="8" name="Content Placeholder 4">
            <a:extLst>
              <a:ext uri="{FF2B5EF4-FFF2-40B4-BE49-F238E27FC236}">
                <a16:creationId xmlns:a16="http://schemas.microsoft.com/office/drawing/2014/main" id="{482EB66A-6083-4526-A2E4-3770D2CE2393}"/>
              </a:ext>
            </a:extLst>
          </p:cNvPr>
          <p:cNvSpPr txBox="1">
            <a:spLocks/>
          </p:cNvSpPr>
          <p:nvPr/>
        </p:nvSpPr>
        <p:spPr>
          <a:xfrm>
            <a:off x="318246" y="4903694"/>
            <a:ext cx="5181600" cy="1833567"/>
          </a:xfrm>
          <a:prstGeom prst="rect">
            <a:avLst/>
          </a:prstGeom>
          <a:solidFill>
            <a:schemeClr val="bg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Nexa-Light" panose="010000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Nexa-Light" panose="010000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Nexa-Light" panose="010000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Nexa-Light" panose="010000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Nexa-Light"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90488" lvl="1">
              <a:tabLst>
                <a:tab pos="180975" algn="l"/>
              </a:tabLst>
            </a:pPr>
            <a:r>
              <a:rPr lang="en-GB" sz="1400" dirty="0" err="1">
                <a:solidFill>
                  <a:schemeClr val="tx1"/>
                </a:solidFill>
                <a:latin typeface="Consolas" panose="020B0609020204030204" pitchFamily="49" charset="0"/>
              </a:rPr>
              <a:t>empty.world</a:t>
            </a:r>
            <a:endParaRPr lang="en-GB" sz="1400" dirty="0">
              <a:solidFill>
                <a:schemeClr val="tx1"/>
              </a:solidFill>
              <a:latin typeface="Consolas" panose="020B0609020204030204" pitchFamily="49" charset="0"/>
            </a:endParaRPr>
          </a:p>
          <a:p>
            <a:pPr marL="90488" lvl="1">
              <a:tabLst>
                <a:tab pos="180975" algn="l"/>
              </a:tabLst>
            </a:pPr>
            <a:r>
              <a:rPr lang="en-GB" sz="1400" dirty="0">
                <a:solidFill>
                  <a:schemeClr val="tx1"/>
                </a:solidFill>
                <a:latin typeface="Consolas" panose="020B0609020204030204" pitchFamily="49" charset="0"/>
              </a:rPr>
              <a:t>obstacle_avoidance_1.world</a:t>
            </a:r>
          </a:p>
          <a:p>
            <a:pPr marL="90488" lvl="1">
              <a:tabLst>
                <a:tab pos="180975" algn="l"/>
              </a:tabLst>
            </a:pPr>
            <a:r>
              <a:rPr lang="en-GB" sz="1400" dirty="0">
                <a:solidFill>
                  <a:schemeClr val="tx1"/>
                </a:solidFill>
                <a:latin typeface="Consolas" panose="020B0609020204030204" pitchFamily="49" charset="0"/>
              </a:rPr>
              <a:t>obstacle_avoidance_2.world</a:t>
            </a:r>
          </a:p>
          <a:p>
            <a:pPr marL="90488" lvl="1">
              <a:tabLst>
                <a:tab pos="180975" algn="l"/>
              </a:tabLst>
            </a:pPr>
            <a:r>
              <a:rPr lang="en-GB" sz="1400" dirty="0">
                <a:solidFill>
                  <a:schemeClr val="tx1"/>
                </a:solidFill>
                <a:latin typeface="Consolas" panose="020B0609020204030204" pitchFamily="49" charset="0"/>
              </a:rPr>
              <a:t>obstacle_avoidance_3.world</a:t>
            </a:r>
          </a:p>
          <a:p>
            <a:pPr marL="90488" lvl="1">
              <a:tabLst>
                <a:tab pos="180975" algn="l"/>
              </a:tabLst>
            </a:pPr>
            <a:r>
              <a:rPr lang="en-GB" sz="1400" dirty="0">
                <a:solidFill>
                  <a:schemeClr val="tx1"/>
                </a:solidFill>
                <a:latin typeface="Consolas" panose="020B0609020204030204" pitchFamily="49" charset="0"/>
              </a:rPr>
              <a:t>obstacle_avoidance_4.world</a:t>
            </a:r>
          </a:p>
          <a:p>
            <a:pPr marL="90488" lvl="1">
              <a:tabLst>
                <a:tab pos="180975" algn="l"/>
              </a:tabLst>
            </a:pPr>
            <a:r>
              <a:rPr lang="en-GB" sz="1400" dirty="0" err="1">
                <a:solidFill>
                  <a:schemeClr val="tx1"/>
                </a:solidFill>
                <a:latin typeface="Consolas" panose="020B0609020204030204" pitchFamily="49" charset="0"/>
              </a:rPr>
              <a:t>office.world</a:t>
            </a:r>
            <a:endParaRPr lang="en-GB" sz="1400" dirty="0">
              <a:solidFill>
                <a:schemeClr val="tx1"/>
              </a:solidFill>
              <a:latin typeface="Consolas" panose="020B0609020204030204" pitchFamily="49" charset="0"/>
            </a:endParaRPr>
          </a:p>
          <a:p>
            <a:pPr marL="90488" lvl="1">
              <a:tabLst>
                <a:tab pos="180975" algn="l"/>
              </a:tabLst>
            </a:pPr>
            <a:r>
              <a:rPr lang="en-GB" sz="1400" dirty="0" err="1">
                <a:solidFill>
                  <a:schemeClr val="tx1"/>
                </a:solidFill>
                <a:latin typeface="Consolas" panose="020B0609020204030204" pitchFamily="49" charset="0"/>
              </a:rPr>
              <a:t>puzzlebot_arena.world</a:t>
            </a:r>
            <a:endParaRPr lang="en-GB" sz="1400" dirty="0">
              <a:solidFill>
                <a:schemeClr val="tx1"/>
              </a:solidFill>
              <a:latin typeface="Consolas" panose="020B0609020204030204" pitchFamily="49" charset="0"/>
            </a:endParaRPr>
          </a:p>
          <a:p>
            <a:pPr marL="90488" lvl="1">
              <a:tabLst>
                <a:tab pos="180975" algn="l"/>
              </a:tabLst>
            </a:pPr>
            <a:r>
              <a:rPr lang="en-GB" sz="1400" dirty="0" err="1">
                <a:solidFill>
                  <a:schemeClr val="tx1"/>
                </a:solidFill>
                <a:latin typeface="Consolas" panose="020B0609020204030204" pitchFamily="49" charset="0"/>
              </a:rPr>
              <a:t>puzzlebot_arena_markers.world</a:t>
            </a:r>
            <a:endParaRPr lang="en-GB" sz="1400" dirty="0">
              <a:solidFill>
                <a:schemeClr val="tx1"/>
              </a:solidFill>
              <a:latin typeface="Consolas" panose="020B0609020204030204" pitchFamily="49" charset="0"/>
            </a:endParaRPr>
          </a:p>
          <a:p>
            <a:pPr marL="90488" lvl="1">
              <a:tabLst>
                <a:tab pos="180975" algn="l"/>
              </a:tabLst>
            </a:pPr>
            <a:r>
              <a:rPr lang="en-GB" sz="1400" dirty="0" err="1">
                <a:solidFill>
                  <a:schemeClr val="tx1"/>
                </a:solidFill>
                <a:latin typeface="Consolas" panose="020B0609020204030204" pitchFamily="49" charset="0"/>
              </a:rPr>
              <a:t>puzzlebot_world.world</a:t>
            </a:r>
            <a:endParaRPr lang="en-GB" sz="1400" dirty="0">
              <a:solidFill>
                <a:schemeClr val="tx1"/>
              </a:solidFill>
              <a:latin typeface="Consolas" panose="020B0609020204030204" pitchFamily="49" charset="0"/>
            </a:endParaRPr>
          </a:p>
        </p:txBody>
      </p:sp>
      <p:sp>
        <p:nvSpPr>
          <p:cNvPr id="9" name="Rectangle 8">
            <a:extLst>
              <a:ext uri="{FF2B5EF4-FFF2-40B4-BE49-F238E27FC236}">
                <a16:creationId xmlns:a16="http://schemas.microsoft.com/office/drawing/2014/main" id="{A355D366-FBB4-D898-F087-5915C2D8193E}"/>
              </a:ext>
            </a:extLst>
          </p:cNvPr>
          <p:cNvSpPr/>
          <p:nvPr/>
        </p:nvSpPr>
        <p:spPr>
          <a:xfrm>
            <a:off x="5934634" y="3301859"/>
            <a:ext cx="6185647" cy="25428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400" dirty="0">
                <a:solidFill>
                  <a:schemeClr val="tx1"/>
                </a:solidFill>
                <a:latin typeface="Consolas" panose="020B0609020204030204" pitchFamily="49" charset="0"/>
              </a:rPr>
              <a:t>~/puzzlebot_gazebo/launch/bringup_simulation_launch.py</a:t>
            </a:r>
          </a:p>
        </p:txBody>
      </p:sp>
      <p:sp>
        <p:nvSpPr>
          <p:cNvPr id="10" name="Rectangle 9">
            <a:extLst>
              <a:ext uri="{FF2B5EF4-FFF2-40B4-BE49-F238E27FC236}">
                <a16:creationId xmlns:a16="http://schemas.microsoft.com/office/drawing/2014/main" id="{8CAAF1F1-BE0E-EDC3-B8DA-1C08FFBC2C5B}"/>
              </a:ext>
            </a:extLst>
          </p:cNvPr>
          <p:cNvSpPr/>
          <p:nvPr/>
        </p:nvSpPr>
        <p:spPr>
          <a:xfrm>
            <a:off x="5934633" y="4252114"/>
            <a:ext cx="6185647" cy="25428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pPr>
            <a:r>
              <a:rPr lang="en-GB" sz="1400" dirty="0">
                <a:solidFill>
                  <a:schemeClr val="tx1"/>
                </a:solidFill>
                <a:latin typeface="Consolas" panose="020B0609020204030204" pitchFamily="49" charset="0"/>
              </a:rPr>
              <a:t>world = '</a:t>
            </a:r>
            <a:r>
              <a:rPr lang="en-GB" sz="1400" dirty="0" err="1">
                <a:solidFill>
                  <a:schemeClr val="tx1"/>
                </a:solidFill>
                <a:latin typeface="Consolas" panose="020B0609020204030204" pitchFamily="49" charset="0"/>
              </a:rPr>
              <a:t>world_aruco_mip.sdf</a:t>
            </a:r>
            <a:r>
              <a:rPr lang="en-GB" sz="1400" dirty="0">
                <a:solidFill>
                  <a:schemeClr val="tx1"/>
                </a:solidFill>
                <a:latin typeface="Consolas" panose="020B0609020204030204" pitchFamily="49" charset="0"/>
              </a:rPr>
              <a:t>'</a:t>
            </a:r>
          </a:p>
        </p:txBody>
      </p:sp>
    </p:spTree>
    <p:extLst>
      <p:ext uri="{BB962C8B-B14F-4D97-AF65-F5344CB8AC3E}">
        <p14:creationId xmlns:p14="http://schemas.microsoft.com/office/powerpoint/2010/main" val="2603491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56BFB78F-2A06-305E-AFDC-0E2BA6017836}"/>
              </a:ext>
            </a:extLst>
          </p:cNvPr>
          <p:cNvPicPr>
            <a:picLocks noGrp="1" noChangeAspect="1"/>
          </p:cNvPicPr>
          <p:nvPr>
            <p:ph sz="half" idx="2"/>
          </p:nvPr>
        </p:nvPicPr>
        <p:blipFill>
          <a:blip r:embed="rId2"/>
          <a:stretch>
            <a:fillRect/>
          </a:stretch>
        </p:blipFill>
        <p:spPr>
          <a:xfrm>
            <a:off x="6172200" y="1827338"/>
            <a:ext cx="5181600" cy="4347912"/>
          </a:xfrm>
        </p:spPr>
      </p:pic>
      <p:sp>
        <p:nvSpPr>
          <p:cNvPr id="4" name="Title 3">
            <a:extLst>
              <a:ext uri="{FF2B5EF4-FFF2-40B4-BE49-F238E27FC236}">
                <a16:creationId xmlns:a16="http://schemas.microsoft.com/office/drawing/2014/main" id="{B59D13C1-E8F7-5DF4-5C8E-E66DBDFBFDE2}"/>
              </a:ext>
            </a:extLst>
          </p:cNvPr>
          <p:cNvSpPr>
            <a:spLocks noGrp="1"/>
          </p:cNvSpPr>
          <p:nvPr>
            <p:ph type="title"/>
          </p:nvPr>
        </p:nvSpPr>
        <p:spPr/>
        <p:txBody>
          <a:bodyPr/>
          <a:lstStyle/>
          <a:p>
            <a:r>
              <a:rPr lang="en-GB" dirty="0"/>
              <a:t>Changing the environment</a:t>
            </a:r>
          </a:p>
        </p:txBody>
      </p:sp>
      <p:sp>
        <p:nvSpPr>
          <p:cNvPr id="10" name="Content Placeholder 9">
            <a:extLst>
              <a:ext uri="{FF2B5EF4-FFF2-40B4-BE49-F238E27FC236}">
                <a16:creationId xmlns:a16="http://schemas.microsoft.com/office/drawing/2014/main" id="{9429D8F8-3E1E-F3F8-F244-0EC64F2C7ED0}"/>
              </a:ext>
            </a:extLst>
          </p:cNvPr>
          <p:cNvSpPr>
            <a:spLocks noGrp="1"/>
          </p:cNvSpPr>
          <p:nvPr>
            <p:ph sz="half" idx="1"/>
          </p:nvPr>
        </p:nvSpPr>
        <p:spPr/>
        <p:txBody>
          <a:bodyPr>
            <a:normAutofit/>
          </a:bodyPr>
          <a:lstStyle/>
          <a:p>
            <a:pPr>
              <a:lnSpc>
                <a:spcPct val="150000"/>
              </a:lnSpc>
            </a:pPr>
            <a:r>
              <a:rPr lang="en-GB" sz="1600" dirty="0"/>
              <a:t>Save the file</a:t>
            </a:r>
          </a:p>
          <a:p>
            <a:pPr>
              <a:lnSpc>
                <a:spcPct val="150000"/>
              </a:lnSpc>
            </a:pPr>
            <a:r>
              <a:rPr lang="en-GB" sz="1600" dirty="0"/>
              <a:t>Follow the instructions in the previous section to initialise the Gazebo simulator.</a:t>
            </a:r>
          </a:p>
          <a:p>
            <a:pPr>
              <a:lnSpc>
                <a:spcPct val="150000"/>
              </a:lnSpc>
            </a:pPr>
            <a:r>
              <a:rPr lang="en-GB" sz="1600" dirty="0"/>
              <a:t>The following models should appear on the screen.</a:t>
            </a:r>
          </a:p>
          <a:p>
            <a:endParaRPr lang="en-GB" dirty="0"/>
          </a:p>
        </p:txBody>
      </p:sp>
      <p:pic>
        <p:nvPicPr>
          <p:cNvPr id="11" name="Content Placeholder 7">
            <a:extLst>
              <a:ext uri="{FF2B5EF4-FFF2-40B4-BE49-F238E27FC236}">
                <a16:creationId xmlns:a16="http://schemas.microsoft.com/office/drawing/2014/main" id="{AC23E3B7-AC25-2AF5-800A-1F471C5E78D7}"/>
              </a:ext>
            </a:extLst>
          </p:cNvPr>
          <p:cNvPicPr>
            <a:picLocks noChangeAspect="1"/>
          </p:cNvPicPr>
          <p:nvPr/>
        </p:nvPicPr>
        <p:blipFill>
          <a:blip r:embed="rId3"/>
          <a:stretch>
            <a:fillRect/>
          </a:stretch>
        </p:blipFill>
        <p:spPr>
          <a:xfrm>
            <a:off x="1014532" y="4202926"/>
            <a:ext cx="4503244" cy="2469901"/>
          </a:xfrm>
          <a:prstGeom prst="rect">
            <a:avLst/>
          </a:prstGeom>
        </p:spPr>
      </p:pic>
    </p:spTree>
    <p:extLst>
      <p:ext uri="{BB962C8B-B14F-4D97-AF65-F5344CB8AC3E}">
        <p14:creationId xmlns:p14="http://schemas.microsoft.com/office/powerpoint/2010/main" val="2914284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791300-1F5C-CC2D-1BCF-8C998127523C}"/>
              </a:ext>
            </a:extLst>
          </p:cNvPr>
          <p:cNvSpPr>
            <a:spLocks noGrp="1"/>
          </p:cNvSpPr>
          <p:nvPr>
            <p:ph sz="half" idx="1"/>
          </p:nvPr>
        </p:nvSpPr>
        <p:spPr/>
        <p:txBody>
          <a:bodyPr/>
          <a:lstStyle/>
          <a:p>
            <a:pPr marL="0" indent="0">
              <a:lnSpc>
                <a:spcPct val="150000"/>
              </a:lnSpc>
              <a:buNone/>
            </a:pPr>
            <a:r>
              <a:rPr lang="en-GB" sz="1800" b="1" dirty="0">
                <a:latin typeface="Nexa Bold" panose="02000000000000000000" pitchFamily="50" charset="0"/>
              </a:rPr>
              <a:t>General Gazebo Settings</a:t>
            </a:r>
          </a:p>
          <a:p>
            <a:pPr>
              <a:lnSpc>
                <a:spcPct val="150000"/>
              </a:lnSpc>
            </a:pPr>
            <a:r>
              <a:rPr lang="en-GB" sz="1600" dirty="0"/>
              <a:t>The Gazebo general settings can be also be configured.</a:t>
            </a:r>
          </a:p>
          <a:p>
            <a:pPr>
              <a:lnSpc>
                <a:spcPct val="150000"/>
              </a:lnSpc>
            </a:pPr>
            <a:r>
              <a:rPr lang="en-GB" sz="1600" dirty="0"/>
              <a:t>Open the file “</a:t>
            </a:r>
            <a:r>
              <a:rPr lang="en-GB" sz="1600" i="1" dirty="0"/>
              <a:t>bringup_simulation_launch.py</a:t>
            </a:r>
            <a:r>
              <a:rPr lang="en-GB" sz="1600" dirty="0"/>
              <a:t>” in the “</a:t>
            </a:r>
            <a:r>
              <a:rPr lang="en-GB" sz="1600" i="1" dirty="0" err="1"/>
              <a:t>puzzlebot_gazebo</a:t>
            </a:r>
            <a:r>
              <a:rPr lang="en-GB" sz="1600" dirty="0"/>
              <a:t>” package.</a:t>
            </a:r>
          </a:p>
          <a:p>
            <a:pPr>
              <a:lnSpc>
                <a:spcPct val="150000"/>
              </a:lnSpc>
            </a:pPr>
            <a:endParaRPr lang="en-GB" sz="1600" dirty="0"/>
          </a:p>
          <a:p>
            <a:pPr>
              <a:lnSpc>
                <a:spcPct val="150000"/>
              </a:lnSpc>
            </a:pPr>
            <a:r>
              <a:rPr lang="en-GB" sz="1600" dirty="0"/>
              <a:t>Lines 17-20 control some basic settings such as pause, verbosity and </a:t>
            </a:r>
            <a:r>
              <a:rPr lang="en-GB" sz="1600" dirty="0" err="1"/>
              <a:t>sim_time</a:t>
            </a:r>
            <a:r>
              <a:rPr lang="en-GB" sz="1600" dirty="0"/>
              <a:t>.</a:t>
            </a:r>
          </a:p>
          <a:p>
            <a:pPr marL="0" indent="0">
              <a:buNone/>
            </a:pPr>
            <a:endParaRPr lang="en-GB" dirty="0"/>
          </a:p>
        </p:txBody>
      </p:sp>
      <p:sp>
        <p:nvSpPr>
          <p:cNvPr id="3" name="Content Placeholder 2">
            <a:extLst>
              <a:ext uri="{FF2B5EF4-FFF2-40B4-BE49-F238E27FC236}">
                <a16:creationId xmlns:a16="http://schemas.microsoft.com/office/drawing/2014/main" id="{29A3E4F4-1AFD-9E8B-AD0A-B456017162D9}"/>
              </a:ext>
            </a:extLst>
          </p:cNvPr>
          <p:cNvSpPr>
            <a:spLocks noGrp="1"/>
          </p:cNvSpPr>
          <p:nvPr>
            <p:ph sz="half" idx="2"/>
          </p:nvPr>
        </p:nvSpPr>
        <p:spPr>
          <a:xfrm>
            <a:off x="6172199" y="1825625"/>
            <a:ext cx="5831541" cy="4351338"/>
          </a:xfrm>
        </p:spPr>
        <p:txBody>
          <a:bodyPr>
            <a:normAutofit/>
          </a:bodyPr>
          <a:lstStyle/>
          <a:p>
            <a:pPr>
              <a:lnSpc>
                <a:spcPct val="150000"/>
              </a:lnSpc>
            </a:pPr>
            <a:r>
              <a:rPr lang="en-GB" sz="1600" b="1" dirty="0"/>
              <a:t>Pause</a:t>
            </a:r>
            <a:r>
              <a:rPr lang="en-GB" sz="1600" dirty="0"/>
              <a:t> (true/false): sets the simulation to start paused or running from the start.</a:t>
            </a:r>
          </a:p>
          <a:p>
            <a:pPr>
              <a:lnSpc>
                <a:spcPct val="150000"/>
              </a:lnSpc>
            </a:pPr>
            <a:r>
              <a:rPr lang="en-GB" sz="1600" b="1" dirty="0"/>
              <a:t>Verbosity</a:t>
            </a:r>
            <a:r>
              <a:rPr lang="en-GB" sz="1600" dirty="0"/>
              <a:t> [0-4]: Sets the simulator's verbosity level (log description) 4 prints more information about the simulator on the terminal.</a:t>
            </a:r>
          </a:p>
          <a:p>
            <a:pPr>
              <a:lnSpc>
                <a:spcPct val="150000"/>
              </a:lnSpc>
            </a:pPr>
            <a:r>
              <a:rPr lang="en-GB" sz="1600" b="1" dirty="0" err="1"/>
              <a:t>use_sim_time</a:t>
            </a:r>
            <a:r>
              <a:rPr lang="en-GB" sz="1600" b="1" dirty="0"/>
              <a:t> </a:t>
            </a:r>
            <a:r>
              <a:rPr lang="en-GB" sz="1600" dirty="0"/>
              <a:t>(true/false): Enables the use of Gazebo clock (simulated clock). The clock is published on the topic “/clock” </a:t>
            </a:r>
          </a:p>
          <a:p>
            <a:pPr lvl="1">
              <a:lnSpc>
                <a:spcPct val="150000"/>
              </a:lnSpc>
            </a:pPr>
            <a:r>
              <a:rPr lang="en-GB" sz="1200" dirty="0"/>
              <a:t>If using it, ensure the parameter “</a:t>
            </a:r>
            <a:r>
              <a:rPr lang="en-GB" sz="1200" dirty="0" err="1"/>
              <a:t>use_sim_time</a:t>
            </a:r>
            <a:r>
              <a:rPr lang="en-GB" sz="1200" dirty="0"/>
              <a:t>” of each node that uses time from Gazebo is enabled.</a:t>
            </a:r>
          </a:p>
          <a:p>
            <a:pPr lvl="1">
              <a:lnSpc>
                <a:spcPct val="150000"/>
              </a:lnSpc>
            </a:pPr>
            <a:r>
              <a:rPr lang="en-GB" sz="1200" dirty="0"/>
              <a:t> Set to false if using Gazebo and a real robot simultaneously. </a:t>
            </a:r>
          </a:p>
        </p:txBody>
      </p:sp>
      <p:sp>
        <p:nvSpPr>
          <p:cNvPr id="4" name="Title 3">
            <a:extLst>
              <a:ext uri="{FF2B5EF4-FFF2-40B4-BE49-F238E27FC236}">
                <a16:creationId xmlns:a16="http://schemas.microsoft.com/office/drawing/2014/main" id="{556E5C95-DD9E-4EB2-B6B9-276C68686879}"/>
              </a:ext>
            </a:extLst>
          </p:cNvPr>
          <p:cNvSpPr>
            <a:spLocks noGrp="1"/>
          </p:cNvSpPr>
          <p:nvPr>
            <p:ph type="title"/>
          </p:nvPr>
        </p:nvSpPr>
        <p:spPr/>
        <p:txBody>
          <a:bodyPr/>
          <a:lstStyle/>
          <a:p>
            <a:r>
              <a:rPr lang="en-GB" dirty="0"/>
              <a:t>Simulator Configuration</a:t>
            </a:r>
          </a:p>
        </p:txBody>
      </p:sp>
      <p:sp>
        <p:nvSpPr>
          <p:cNvPr id="5" name="Rectangle 4">
            <a:extLst>
              <a:ext uri="{FF2B5EF4-FFF2-40B4-BE49-F238E27FC236}">
                <a16:creationId xmlns:a16="http://schemas.microsoft.com/office/drawing/2014/main" id="{FE5837DB-98BA-5473-B68E-50F21ED1F070}"/>
              </a:ext>
            </a:extLst>
          </p:cNvPr>
          <p:cNvSpPr/>
          <p:nvPr/>
        </p:nvSpPr>
        <p:spPr>
          <a:xfrm>
            <a:off x="838200" y="4225224"/>
            <a:ext cx="5181600" cy="25428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lvl="1">
              <a:tabLst>
                <a:tab pos="180975" algn="l"/>
              </a:tabLst>
            </a:pPr>
            <a:r>
              <a:rPr lang="en-GB" sz="1200" dirty="0">
                <a:solidFill>
                  <a:schemeClr val="tx1"/>
                </a:solidFill>
                <a:latin typeface="Consolas" panose="020B0609020204030204" pitchFamily="49" charset="0"/>
              </a:rPr>
              <a:t>~/puzzlebot_gazebo/launch/bringup_simulation_launch.py</a:t>
            </a:r>
          </a:p>
        </p:txBody>
      </p:sp>
      <p:sp>
        <p:nvSpPr>
          <p:cNvPr id="6" name="Rectangle 5">
            <a:extLst>
              <a:ext uri="{FF2B5EF4-FFF2-40B4-BE49-F238E27FC236}">
                <a16:creationId xmlns:a16="http://schemas.microsoft.com/office/drawing/2014/main" id="{4A51BB4C-B1C8-AE79-E936-FD8594FA7456}"/>
              </a:ext>
            </a:extLst>
          </p:cNvPr>
          <p:cNvSpPr/>
          <p:nvPr/>
        </p:nvSpPr>
        <p:spPr>
          <a:xfrm>
            <a:off x="762001" y="5514929"/>
            <a:ext cx="5181600" cy="799071"/>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nSpc>
                <a:spcPct val="100000"/>
              </a:lnSpc>
              <a:spcBef>
                <a:spcPts val="0"/>
              </a:spcBef>
              <a:buNone/>
            </a:pPr>
            <a:r>
              <a:rPr lang="en-GB" sz="1200" b="0" dirty="0">
                <a:solidFill>
                  <a:srgbClr val="6A9955"/>
                </a:solidFill>
                <a:effectLst/>
                <a:latin typeface="Consolas" panose="020B0609020204030204" pitchFamily="49" charset="0"/>
              </a:rPr>
              <a:t># General Gazebo settings</a:t>
            </a:r>
            <a:endParaRPr lang="en-GB" sz="1200" b="0" dirty="0">
              <a:solidFill>
                <a:srgbClr val="CCCCCC"/>
              </a:solidFill>
              <a:effectLst/>
              <a:latin typeface="Consolas" panose="020B0609020204030204" pitchFamily="49" charset="0"/>
            </a:endParaRPr>
          </a:p>
          <a:p>
            <a:pPr marL="0" indent="0">
              <a:lnSpc>
                <a:spcPct val="100000"/>
              </a:lnSpc>
              <a:spcBef>
                <a:spcPts val="0"/>
              </a:spcBef>
              <a:buNone/>
            </a:pPr>
            <a:r>
              <a:rPr lang="en-GB" sz="1200" b="0" dirty="0">
                <a:solidFill>
                  <a:srgbClr val="9CDCFE"/>
                </a:solidFill>
                <a:effectLst/>
                <a:latin typeface="Consolas" panose="020B0609020204030204" pitchFamily="49" charset="0"/>
              </a:rPr>
              <a:t>pause</a:t>
            </a:r>
            <a:r>
              <a:rPr lang="en-GB" sz="1200" b="0" dirty="0">
                <a:solidFill>
                  <a:srgbClr val="CCCCCC"/>
                </a:solidFill>
                <a:effectLst/>
                <a:latin typeface="Consolas" panose="020B0609020204030204" pitchFamily="49" charset="0"/>
              </a:rPr>
              <a:t> </a:t>
            </a:r>
            <a:r>
              <a:rPr lang="en-GB" sz="1200" b="0" dirty="0">
                <a:solidFill>
                  <a:srgbClr val="D4D4D4"/>
                </a:solidFill>
                <a:effectLst/>
                <a:latin typeface="Consolas" panose="020B0609020204030204" pitchFamily="49" charset="0"/>
              </a:rPr>
              <a:t>=</a:t>
            </a:r>
            <a:r>
              <a:rPr lang="en-GB" sz="1200" b="0" dirty="0">
                <a:solidFill>
                  <a:srgbClr val="CCCCCC"/>
                </a:solidFill>
                <a:effectLst/>
                <a:latin typeface="Consolas" panose="020B0609020204030204" pitchFamily="49" charset="0"/>
              </a:rPr>
              <a:t> </a:t>
            </a:r>
            <a:r>
              <a:rPr lang="en-GB" sz="1200" b="0" dirty="0">
                <a:solidFill>
                  <a:srgbClr val="CE9178"/>
                </a:solidFill>
                <a:effectLst/>
                <a:latin typeface="Consolas" panose="020B0609020204030204" pitchFamily="49" charset="0"/>
              </a:rPr>
              <a:t>'true'</a:t>
            </a:r>
            <a:r>
              <a:rPr lang="en-GB" sz="1200" b="0" dirty="0">
                <a:solidFill>
                  <a:srgbClr val="CCCCCC"/>
                </a:solidFill>
                <a:effectLst/>
                <a:latin typeface="Consolas" panose="020B0609020204030204" pitchFamily="49" charset="0"/>
              </a:rPr>
              <a:t>          </a:t>
            </a:r>
            <a:r>
              <a:rPr lang="en-GB" sz="1200" b="0" dirty="0">
                <a:solidFill>
                  <a:srgbClr val="6A9955"/>
                </a:solidFill>
                <a:effectLst/>
                <a:latin typeface="Consolas" panose="020B0609020204030204" pitchFamily="49" charset="0"/>
              </a:rPr>
              <a:t># Start Gazebo in paused state</a:t>
            </a:r>
            <a:endParaRPr lang="en-GB" sz="1200" b="0" dirty="0">
              <a:solidFill>
                <a:srgbClr val="CCCCCC"/>
              </a:solidFill>
              <a:effectLst/>
              <a:latin typeface="Consolas" panose="020B0609020204030204" pitchFamily="49" charset="0"/>
            </a:endParaRPr>
          </a:p>
          <a:p>
            <a:pPr marL="0" indent="0">
              <a:lnSpc>
                <a:spcPct val="100000"/>
              </a:lnSpc>
              <a:spcBef>
                <a:spcPts val="0"/>
              </a:spcBef>
              <a:buNone/>
            </a:pPr>
            <a:r>
              <a:rPr lang="en-GB" sz="1200" b="0" dirty="0">
                <a:solidFill>
                  <a:srgbClr val="9CDCFE"/>
                </a:solidFill>
                <a:effectLst/>
                <a:latin typeface="Consolas" panose="020B0609020204030204" pitchFamily="49" charset="0"/>
              </a:rPr>
              <a:t>verbosity</a:t>
            </a:r>
            <a:r>
              <a:rPr lang="en-GB" sz="1200" b="0" dirty="0">
                <a:solidFill>
                  <a:srgbClr val="CCCCCC"/>
                </a:solidFill>
                <a:effectLst/>
                <a:latin typeface="Consolas" panose="020B0609020204030204" pitchFamily="49" charset="0"/>
              </a:rPr>
              <a:t> </a:t>
            </a:r>
            <a:r>
              <a:rPr lang="en-GB" sz="1200" b="0" dirty="0">
                <a:solidFill>
                  <a:srgbClr val="D4D4D4"/>
                </a:solidFill>
                <a:effectLst/>
                <a:latin typeface="Consolas" panose="020B0609020204030204" pitchFamily="49" charset="0"/>
              </a:rPr>
              <a:t>=</a:t>
            </a:r>
            <a:r>
              <a:rPr lang="en-GB" sz="1200" b="0" dirty="0">
                <a:solidFill>
                  <a:srgbClr val="CCCCCC"/>
                </a:solidFill>
                <a:effectLst/>
                <a:latin typeface="Consolas" panose="020B0609020204030204" pitchFamily="49" charset="0"/>
              </a:rPr>
              <a:t> </a:t>
            </a:r>
            <a:r>
              <a:rPr lang="en-GB" sz="1200" b="0" dirty="0">
                <a:solidFill>
                  <a:srgbClr val="CE9178"/>
                </a:solidFill>
                <a:effectLst/>
                <a:latin typeface="Consolas" panose="020B0609020204030204" pitchFamily="49" charset="0"/>
              </a:rPr>
              <a:t>'4'</a:t>
            </a:r>
            <a:r>
              <a:rPr lang="en-GB" sz="1200" b="0" dirty="0">
                <a:solidFill>
                  <a:srgbClr val="CCCCCC"/>
                </a:solidFill>
                <a:effectLst/>
                <a:latin typeface="Consolas" panose="020B0609020204030204" pitchFamily="49" charset="0"/>
              </a:rPr>
              <a:t>         </a:t>
            </a:r>
            <a:r>
              <a:rPr lang="en-GB" sz="1200" b="0" dirty="0">
                <a:solidFill>
                  <a:srgbClr val="6A9955"/>
                </a:solidFill>
                <a:effectLst/>
                <a:latin typeface="Consolas" panose="020B0609020204030204" pitchFamily="49" charset="0"/>
              </a:rPr>
              <a:t># Gazebo log verbosity level</a:t>
            </a:r>
            <a:endParaRPr lang="en-GB" sz="1200" b="0" dirty="0">
              <a:solidFill>
                <a:srgbClr val="CCCCCC"/>
              </a:solidFill>
              <a:effectLst/>
              <a:latin typeface="Consolas" panose="020B0609020204030204" pitchFamily="49" charset="0"/>
            </a:endParaRPr>
          </a:p>
          <a:p>
            <a:pPr marL="0" indent="0">
              <a:lnSpc>
                <a:spcPct val="100000"/>
              </a:lnSpc>
              <a:spcBef>
                <a:spcPts val="0"/>
              </a:spcBef>
              <a:buNone/>
            </a:pPr>
            <a:r>
              <a:rPr lang="en-GB" sz="1200" b="0" dirty="0" err="1">
                <a:solidFill>
                  <a:srgbClr val="9CDCFE"/>
                </a:solidFill>
                <a:effectLst/>
                <a:latin typeface="Consolas" panose="020B0609020204030204" pitchFamily="49" charset="0"/>
              </a:rPr>
              <a:t>use_sim_time</a:t>
            </a:r>
            <a:r>
              <a:rPr lang="en-GB" sz="1200" b="0" dirty="0">
                <a:solidFill>
                  <a:srgbClr val="CCCCCC"/>
                </a:solidFill>
                <a:effectLst/>
                <a:latin typeface="Consolas" panose="020B0609020204030204" pitchFamily="49" charset="0"/>
              </a:rPr>
              <a:t> </a:t>
            </a:r>
            <a:r>
              <a:rPr lang="en-GB" sz="1200" b="0" dirty="0">
                <a:solidFill>
                  <a:srgbClr val="D4D4D4"/>
                </a:solidFill>
                <a:effectLst/>
                <a:latin typeface="Consolas" panose="020B0609020204030204" pitchFamily="49" charset="0"/>
              </a:rPr>
              <a:t>=</a:t>
            </a:r>
            <a:r>
              <a:rPr lang="en-GB" sz="1200" b="0" dirty="0">
                <a:solidFill>
                  <a:srgbClr val="CCCCCC"/>
                </a:solidFill>
                <a:effectLst/>
                <a:latin typeface="Consolas" panose="020B0609020204030204" pitchFamily="49" charset="0"/>
              </a:rPr>
              <a:t> </a:t>
            </a:r>
            <a:r>
              <a:rPr lang="en-GB" sz="1200" b="0" dirty="0">
                <a:solidFill>
                  <a:srgbClr val="CE9178"/>
                </a:solidFill>
                <a:effectLst/>
                <a:latin typeface="Consolas" panose="020B0609020204030204" pitchFamily="49" charset="0"/>
              </a:rPr>
              <a:t>'true’</a:t>
            </a:r>
            <a:r>
              <a:rPr lang="en-GB" sz="1200" b="0" dirty="0">
                <a:solidFill>
                  <a:srgbClr val="CCCCCC"/>
                </a:solidFill>
                <a:effectLst/>
                <a:latin typeface="Consolas" panose="020B0609020204030204" pitchFamily="49" charset="0"/>
              </a:rPr>
              <a:t>   </a:t>
            </a:r>
            <a:r>
              <a:rPr lang="en-GB" sz="1200" b="0" dirty="0">
                <a:solidFill>
                  <a:srgbClr val="6A9955"/>
                </a:solidFill>
                <a:effectLst/>
                <a:latin typeface="Consolas" panose="020B0609020204030204" pitchFamily="49" charset="0"/>
              </a:rPr>
              <a:t># Enable use of simulated clock</a:t>
            </a:r>
          </a:p>
        </p:txBody>
      </p:sp>
    </p:spTree>
    <p:extLst>
      <p:ext uri="{BB962C8B-B14F-4D97-AF65-F5344CB8AC3E}">
        <p14:creationId xmlns:p14="http://schemas.microsoft.com/office/powerpoint/2010/main" val="1348490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394B4-6551-65BD-8BBE-2E62A055CBA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212FFA-5C22-2479-2BAA-9F8B2DE86D01}"/>
              </a:ext>
            </a:extLst>
          </p:cNvPr>
          <p:cNvSpPr>
            <a:spLocks noGrp="1"/>
          </p:cNvSpPr>
          <p:nvPr>
            <p:ph sz="half" idx="1"/>
          </p:nvPr>
        </p:nvSpPr>
        <p:spPr/>
        <p:txBody>
          <a:bodyPr>
            <a:normAutofit/>
          </a:bodyPr>
          <a:lstStyle/>
          <a:p>
            <a:pPr marL="0" indent="0">
              <a:lnSpc>
                <a:spcPct val="150000"/>
              </a:lnSpc>
              <a:buNone/>
            </a:pPr>
            <a:r>
              <a:rPr lang="en-GB" sz="1800" b="1" dirty="0">
                <a:latin typeface="Nexa Bold" panose="02000000000000000000" pitchFamily="50" charset="0"/>
              </a:rPr>
              <a:t>General Gazebo Settings</a:t>
            </a:r>
          </a:p>
          <a:p>
            <a:pPr>
              <a:lnSpc>
                <a:spcPct val="150000"/>
              </a:lnSpc>
            </a:pPr>
            <a:r>
              <a:rPr lang="en-GB" sz="1600" dirty="0"/>
              <a:t>The Puzzlebot models/entities are configured from a list that contains all the parameters required for each robot.</a:t>
            </a:r>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endParaRPr lang="en-GB" sz="1600" dirty="0"/>
          </a:p>
          <a:p>
            <a:pPr lvl="1">
              <a:lnSpc>
                <a:spcPct val="150000"/>
              </a:lnSpc>
            </a:pPr>
            <a:endParaRPr lang="en-GB" sz="1600" dirty="0">
              <a:latin typeface="Consolas" panose="020B0609020204030204" pitchFamily="49" charset="0"/>
            </a:endParaRPr>
          </a:p>
          <a:p>
            <a:pPr marL="0" indent="0">
              <a:buNone/>
            </a:pP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306A50A-8B7A-E4BB-B187-CEB8B4E4C27A}"/>
                  </a:ext>
                </a:extLst>
              </p:cNvPr>
              <p:cNvSpPr>
                <a:spLocks noGrp="1"/>
              </p:cNvSpPr>
              <p:nvPr>
                <p:ph sz="half" idx="2"/>
              </p:nvPr>
            </p:nvSpPr>
            <p:spPr>
              <a:xfrm>
                <a:off x="6172200" y="1380565"/>
                <a:ext cx="5939118" cy="5477435"/>
              </a:xfrm>
            </p:spPr>
            <p:txBody>
              <a:bodyPr>
                <a:normAutofit/>
              </a:bodyPr>
              <a:lstStyle/>
              <a:p>
                <a:pPr marL="0" indent="0">
                  <a:lnSpc>
                    <a:spcPct val="150000"/>
                  </a:lnSpc>
                  <a:buNone/>
                </a:pPr>
                <a:r>
                  <a:rPr lang="en-GB" sz="1800" b="1" dirty="0">
                    <a:latin typeface="Nexa Bold" panose="02000000000000000000" pitchFamily="50" charset="0"/>
                  </a:rPr>
                  <a:t>Configuration List</a:t>
                </a:r>
                <a:endParaRPr lang="en-GB" sz="1800" b="1" dirty="0"/>
              </a:p>
              <a:p>
                <a:pPr>
                  <a:lnSpc>
                    <a:spcPct val="150000"/>
                  </a:lnSpc>
                </a:pPr>
                <a:r>
                  <a:rPr lang="en-GB" sz="1200" b="1" dirty="0"/>
                  <a:t>Name: </a:t>
                </a:r>
                <a:r>
                  <a:rPr lang="en-GB" sz="1200" dirty="0"/>
                  <a:t>Sets the gazebo name of the robot (can be left blank). This name will be used to set the robot namespaces and prefixes of the topics and transforms (useful when simulating multiple robots).</a:t>
                </a:r>
              </a:p>
              <a:p>
                <a:pPr>
                  <a:lnSpc>
                    <a:spcPct val="150000"/>
                  </a:lnSpc>
                </a:pPr>
                <a:r>
                  <a:rPr lang="en-GB" sz="1200" b="1" dirty="0"/>
                  <a:t>Type: </a:t>
                </a:r>
                <a:r>
                  <a:rPr lang="en-GB" sz="1200" dirty="0"/>
                  <a:t>Puzzlebot Selection</a:t>
                </a:r>
              </a:p>
              <a:p>
                <a:pPr>
                  <a:lnSpc>
                    <a:spcPct val="150000"/>
                  </a:lnSpc>
                </a:pPr>
                <a:endParaRPr lang="en-GB" sz="1200" dirty="0"/>
              </a:p>
              <a:p>
                <a:pPr>
                  <a:lnSpc>
                    <a:spcPct val="150000"/>
                  </a:lnSpc>
                </a:pPr>
                <a:endParaRPr lang="en-GB" sz="1200" dirty="0"/>
              </a:p>
              <a:p>
                <a:pPr>
                  <a:lnSpc>
                    <a:spcPct val="150000"/>
                  </a:lnSpc>
                </a:pPr>
                <a:r>
                  <a:rPr lang="en-GB" sz="1200" b="1" dirty="0"/>
                  <a:t>x, y, yaw: Robot Initial position </a:t>
                </a:r>
                <a14:m>
                  <m:oMath xmlns:m="http://schemas.openxmlformats.org/officeDocument/2006/math">
                    <m:r>
                      <a:rPr lang="en-GB" sz="1200" b="0" i="1" dirty="0" smtClean="0">
                        <a:latin typeface="Cambria Math" panose="02040503050406030204" pitchFamily="18" charset="0"/>
                      </a:rPr>
                      <m:t>[</m:t>
                    </m:r>
                    <m:r>
                      <a:rPr lang="en-GB" sz="1200" b="0" i="1" dirty="0" err="1" smtClean="0">
                        <a:latin typeface="Cambria Math" panose="02040503050406030204" pitchFamily="18" charset="0"/>
                      </a:rPr>
                      <m:t>𝑚</m:t>
                    </m:r>
                    <m:r>
                      <a:rPr lang="en-GB" sz="1200" b="0" i="1" dirty="0" err="1" smtClean="0">
                        <a:latin typeface="Cambria Math" panose="02040503050406030204" pitchFamily="18" charset="0"/>
                      </a:rPr>
                      <m:t>,</m:t>
                    </m:r>
                    <m:r>
                      <a:rPr lang="en-GB" sz="1200" b="0" i="1" dirty="0" err="1" smtClean="0">
                        <a:latin typeface="Cambria Math" panose="02040503050406030204" pitchFamily="18" charset="0"/>
                      </a:rPr>
                      <m:t>𝑚</m:t>
                    </m:r>
                    <m:r>
                      <a:rPr lang="en-GB" sz="1200" b="0" i="1" dirty="0" err="1" smtClean="0">
                        <a:latin typeface="Cambria Math" panose="02040503050406030204" pitchFamily="18" charset="0"/>
                      </a:rPr>
                      <m:t>,</m:t>
                    </m:r>
                    <m:r>
                      <a:rPr lang="en-GB" sz="1200" b="0" i="1" dirty="0" err="1" smtClean="0">
                        <a:latin typeface="Cambria Math" panose="02040503050406030204" pitchFamily="18" charset="0"/>
                      </a:rPr>
                      <m:t>𝑟𝑎𝑑</m:t>
                    </m:r>
                    <m:r>
                      <a:rPr lang="en-GB" sz="1200" b="0" i="1" dirty="0" smtClean="0">
                        <a:latin typeface="Cambria Math" panose="02040503050406030204" pitchFamily="18" charset="0"/>
                      </a:rPr>
                      <m:t>]</m:t>
                    </m:r>
                  </m:oMath>
                </a14:m>
                <a:endParaRPr lang="en-GB" sz="1200" dirty="0"/>
              </a:p>
              <a:p>
                <a:pPr>
                  <a:lnSpc>
                    <a:spcPct val="150000"/>
                  </a:lnSpc>
                </a:pPr>
                <a:r>
                  <a:rPr lang="en-GB" sz="1200" b="1" dirty="0" err="1"/>
                  <a:t>lidar_frame</a:t>
                </a:r>
                <a:r>
                  <a:rPr lang="en-GB" sz="1200" b="1" dirty="0"/>
                  <a:t>, </a:t>
                </a:r>
                <a:r>
                  <a:rPr lang="en-GB" sz="1200" b="1" dirty="0" err="1"/>
                  <a:t>camera_frame</a:t>
                </a:r>
                <a:r>
                  <a:rPr lang="en-GB" sz="1200" b="1" dirty="0"/>
                  <a:t>, </a:t>
                </a:r>
                <a:r>
                  <a:rPr lang="en-GB" sz="1200" b="1" dirty="0" err="1"/>
                  <a:t>tof_frame</a:t>
                </a:r>
                <a:r>
                  <a:rPr lang="en-GB" sz="1200" b="1" dirty="0"/>
                  <a:t>: </a:t>
                </a:r>
                <a:r>
                  <a:rPr lang="en-GB" sz="1200" dirty="0"/>
                  <a:t>Output Message Header frame ID for each sensor. Frame the data is associated with. The frames: </a:t>
                </a:r>
                <a:r>
                  <a:rPr lang="en-GB" sz="1200" dirty="0" err="1"/>
                  <a:t>laser_frame</a:t>
                </a:r>
                <a:r>
                  <a:rPr lang="en-GB" sz="1200" dirty="0"/>
                  <a:t>, </a:t>
                </a:r>
                <a:r>
                  <a:rPr lang="en-GB" sz="1200" dirty="0" err="1"/>
                  <a:t>camera_link_optical</a:t>
                </a:r>
                <a:r>
                  <a:rPr lang="en-GB" sz="1200" dirty="0"/>
                  <a:t>, and </a:t>
                </a:r>
                <a:r>
                  <a:rPr lang="en-GB" sz="1200" dirty="0" err="1"/>
                  <a:t>tof_frame</a:t>
                </a:r>
                <a:r>
                  <a:rPr lang="en-GB" sz="1200" dirty="0"/>
                  <a:t> are gazebo frames only used as an example; the user must use their own frames.</a:t>
                </a:r>
              </a:p>
              <a:p>
                <a:pPr>
                  <a:lnSpc>
                    <a:spcPct val="150000"/>
                  </a:lnSpc>
                </a:pPr>
                <a:endParaRPr lang="en-GB" sz="1400" dirty="0"/>
              </a:p>
              <a:p>
                <a:pPr>
                  <a:lnSpc>
                    <a:spcPct val="150000"/>
                  </a:lnSpc>
                </a:pPr>
                <a:endParaRPr lang="en-GB" sz="1400" dirty="0"/>
              </a:p>
              <a:p>
                <a:pPr>
                  <a:lnSpc>
                    <a:spcPct val="150000"/>
                  </a:lnSpc>
                </a:pPr>
                <a:endParaRPr lang="en-GB" sz="1400" dirty="0"/>
              </a:p>
              <a:p>
                <a:pPr lvl="1">
                  <a:lnSpc>
                    <a:spcPct val="150000"/>
                  </a:lnSpc>
                </a:pPr>
                <a:endParaRPr lang="en-GB" sz="1400" dirty="0"/>
              </a:p>
              <a:p>
                <a:pPr lvl="1">
                  <a:lnSpc>
                    <a:spcPct val="150000"/>
                  </a:lnSpc>
                </a:pPr>
                <a:endParaRPr lang="en-GB" sz="1400" dirty="0"/>
              </a:p>
              <a:p>
                <a:pPr lvl="1">
                  <a:lnSpc>
                    <a:spcPct val="150000"/>
                  </a:lnSpc>
                </a:pPr>
                <a:endParaRPr lang="en-GB" sz="1200" dirty="0"/>
              </a:p>
            </p:txBody>
          </p:sp>
        </mc:Choice>
        <mc:Fallback>
          <p:sp>
            <p:nvSpPr>
              <p:cNvPr id="3" name="Content Placeholder 2">
                <a:extLst>
                  <a:ext uri="{FF2B5EF4-FFF2-40B4-BE49-F238E27FC236}">
                    <a16:creationId xmlns:a16="http://schemas.microsoft.com/office/drawing/2014/main" id="{A306A50A-8B7A-E4BB-B187-CEB8B4E4C27A}"/>
                  </a:ext>
                </a:extLst>
              </p:cNvPr>
              <p:cNvSpPr>
                <a:spLocks noGrp="1" noRot="1" noChangeAspect="1" noMove="1" noResize="1" noEditPoints="1" noAdjustHandles="1" noChangeArrowheads="1" noChangeShapeType="1" noTextEdit="1"/>
              </p:cNvSpPr>
              <p:nvPr>
                <p:ph sz="half" idx="2"/>
              </p:nvPr>
            </p:nvSpPr>
            <p:spPr>
              <a:xfrm>
                <a:off x="6172200" y="1380565"/>
                <a:ext cx="5939118" cy="5477435"/>
              </a:xfrm>
              <a:blipFill>
                <a:blip r:embed="rId2"/>
                <a:stretch>
                  <a:fillRect l="-924"/>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58839464-7F15-275E-40B8-8DF14EF7DA14}"/>
              </a:ext>
            </a:extLst>
          </p:cNvPr>
          <p:cNvSpPr>
            <a:spLocks noGrp="1"/>
          </p:cNvSpPr>
          <p:nvPr>
            <p:ph type="title"/>
          </p:nvPr>
        </p:nvSpPr>
        <p:spPr/>
        <p:txBody>
          <a:bodyPr/>
          <a:lstStyle/>
          <a:p>
            <a:r>
              <a:rPr lang="en-GB" dirty="0"/>
              <a:t>Changing Puzzlebot model</a:t>
            </a:r>
          </a:p>
        </p:txBody>
      </p:sp>
      <p:sp>
        <p:nvSpPr>
          <p:cNvPr id="5" name="Rectangle 4">
            <a:extLst>
              <a:ext uri="{FF2B5EF4-FFF2-40B4-BE49-F238E27FC236}">
                <a16:creationId xmlns:a16="http://schemas.microsoft.com/office/drawing/2014/main" id="{95184D98-31C3-3AFD-DB39-6454B36D0BD9}"/>
              </a:ext>
            </a:extLst>
          </p:cNvPr>
          <p:cNvSpPr/>
          <p:nvPr/>
        </p:nvSpPr>
        <p:spPr>
          <a:xfrm>
            <a:off x="838199" y="3860612"/>
            <a:ext cx="5181600" cy="223538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GB" sz="1400" b="0" dirty="0" err="1">
                <a:solidFill>
                  <a:srgbClr val="9CDCFE"/>
                </a:solidFill>
                <a:effectLst/>
                <a:latin typeface="Consolas" panose="020B0609020204030204" pitchFamily="49" charset="0"/>
              </a:rPr>
              <a:t>robot_config_list</a:t>
            </a:r>
            <a:r>
              <a:rPr lang="en-GB" sz="1400" b="0" dirty="0">
                <a:solidFill>
                  <a:srgbClr val="CCCCCC"/>
                </a:solidFill>
                <a:effectLst/>
                <a:latin typeface="Consolas" panose="020B0609020204030204" pitchFamily="49" charset="0"/>
              </a:rPr>
              <a:t> </a:t>
            </a:r>
            <a:r>
              <a:rPr lang="en-GB" sz="1400" b="0" dirty="0">
                <a:solidFill>
                  <a:srgbClr val="D4D4D4"/>
                </a:solidFill>
                <a:effectLst/>
                <a:latin typeface="Consolas" panose="020B0609020204030204" pitchFamily="49" charset="0"/>
              </a:rPr>
              <a:t>=</a:t>
            </a:r>
            <a:r>
              <a:rPr lang="en-GB" sz="1400" b="0" dirty="0">
                <a:solidFill>
                  <a:srgbClr val="CCCCCC"/>
                </a:solidFill>
                <a:effectLst/>
                <a:latin typeface="Consolas" panose="020B0609020204030204" pitchFamily="49" charset="0"/>
              </a:rPr>
              <a:t> [</a:t>
            </a:r>
          </a:p>
          <a:p>
            <a:pPr>
              <a:buNone/>
            </a:pPr>
            <a:r>
              <a:rPr lang="en-GB" sz="1400" b="0" dirty="0">
                <a:solidFill>
                  <a:srgbClr val="CCCCCC"/>
                </a:solidFill>
                <a:effectLst/>
                <a:latin typeface="Consolas" panose="020B0609020204030204" pitchFamily="49" charset="0"/>
              </a:rPr>
              <a:t>    {</a:t>
            </a:r>
          </a:p>
          <a:p>
            <a:pPr>
              <a:buNone/>
            </a:pP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'name'</a:t>
            </a: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'robot1'</a:t>
            </a:r>
            <a:r>
              <a:rPr lang="en-GB" sz="1400" b="0" dirty="0">
                <a:solidFill>
                  <a:srgbClr val="CCCCCC"/>
                </a:solidFill>
                <a:effectLst/>
                <a:latin typeface="Consolas" panose="020B0609020204030204" pitchFamily="49" charset="0"/>
              </a:rPr>
              <a:t>,</a:t>
            </a:r>
          </a:p>
          <a:p>
            <a:pPr>
              <a:buNone/>
            </a:pP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'type'</a:t>
            </a: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a:t>
            </a:r>
            <a:r>
              <a:rPr lang="en-GB" sz="1400" b="0" dirty="0" err="1">
                <a:solidFill>
                  <a:srgbClr val="CE9178"/>
                </a:solidFill>
                <a:effectLst/>
                <a:latin typeface="Consolas" panose="020B0609020204030204" pitchFamily="49" charset="0"/>
              </a:rPr>
              <a:t>puzzlebot_jetson_lidar_ed</a:t>
            </a:r>
            <a:r>
              <a:rPr lang="en-GB" sz="1400" b="0" dirty="0">
                <a:solidFill>
                  <a:srgbClr val="CE9178"/>
                </a:solidFill>
                <a:effectLst/>
                <a:latin typeface="Consolas" panose="020B0609020204030204" pitchFamily="49" charset="0"/>
              </a:rPr>
              <a:t>'</a:t>
            </a:r>
            <a:r>
              <a:rPr lang="en-GB" sz="1400" b="0" dirty="0">
                <a:solidFill>
                  <a:srgbClr val="CCCCCC"/>
                </a:solidFill>
                <a:effectLst/>
                <a:latin typeface="Consolas" panose="020B0609020204030204" pitchFamily="49" charset="0"/>
              </a:rPr>
              <a:t>,</a:t>
            </a:r>
          </a:p>
          <a:p>
            <a:pPr>
              <a:buNone/>
            </a:pP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'x'</a:t>
            </a:r>
            <a:r>
              <a:rPr lang="en-GB" sz="1400" b="0" dirty="0">
                <a:solidFill>
                  <a:srgbClr val="CCCCCC"/>
                </a:solidFill>
                <a:effectLst/>
                <a:latin typeface="Consolas" panose="020B0609020204030204" pitchFamily="49" charset="0"/>
              </a:rPr>
              <a:t>: </a:t>
            </a:r>
            <a:r>
              <a:rPr lang="en-GB" sz="1400" b="0" dirty="0">
                <a:solidFill>
                  <a:srgbClr val="B5CEA8"/>
                </a:solidFill>
                <a:effectLst/>
                <a:latin typeface="Consolas" panose="020B0609020204030204" pitchFamily="49" charset="0"/>
              </a:rPr>
              <a:t>0.0</a:t>
            </a: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'y'</a:t>
            </a:r>
            <a:r>
              <a:rPr lang="en-GB" sz="1400" b="0" dirty="0">
                <a:solidFill>
                  <a:srgbClr val="CCCCCC"/>
                </a:solidFill>
                <a:effectLst/>
                <a:latin typeface="Consolas" panose="020B0609020204030204" pitchFamily="49" charset="0"/>
              </a:rPr>
              <a:t>: </a:t>
            </a:r>
            <a:r>
              <a:rPr lang="en-GB" sz="1400" b="0" dirty="0">
                <a:solidFill>
                  <a:srgbClr val="B5CEA8"/>
                </a:solidFill>
                <a:effectLst/>
                <a:latin typeface="Consolas" panose="020B0609020204030204" pitchFamily="49" charset="0"/>
              </a:rPr>
              <a:t>0.0</a:t>
            </a: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'yaw'</a:t>
            </a:r>
            <a:r>
              <a:rPr lang="en-GB" sz="1400" b="0" dirty="0">
                <a:solidFill>
                  <a:srgbClr val="CCCCCC"/>
                </a:solidFill>
                <a:effectLst/>
                <a:latin typeface="Consolas" panose="020B0609020204030204" pitchFamily="49" charset="0"/>
              </a:rPr>
              <a:t>: </a:t>
            </a:r>
            <a:r>
              <a:rPr lang="en-GB" sz="1400" b="0" dirty="0">
                <a:solidFill>
                  <a:srgbClr val="B5CEA8"/>
                </a:solidFill>
                <a:effectLst/>
                <a:latin typeface="Consolas" panose="020B0609020204030204" pitchFamily="49" charset="0"/>
              </a:rPr>
              <a:t>0.0</a:t>
            </a:r>
            <a:r>
              <a:rPr lang="en-GB" sz="1400" b="0" dirty="0">
                <a:solidFill>
                  <a:srgbClr val="CCCCCC"/>
                </a:solidFill>
                <a:effectLst/>
                <a:latin typeface="Consolas" panose="020B0609020204030204" pitchFamily="49" charset="0"/>
              </a:rPr>
              <a:t>,</a:t>
            </a:r>
          </a:p>
          <a:p>
            <a:pPr>
              <a:buNone/>
            </a:pP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a:t>
            </a:r>
            <a:r>
              <a:rPr lang="en-GB" sz="1400" b="0" dirty="0" err="1">
                <a:solidFill>
                  <a:srgbClr val="CE9178"/>
                </a:solidFill>
                <a:effectLst/>
                <a:latin typeface="Consolas" panose="020B0609020204030204" pitchFamily="49" charset="0"/>
              </a:rPr>
              <a:t>lidar_frame</a:t>
            </a:r>
            <a:r>
              <a:rPr lang="en-GB" sz="1400" b="0" dirty="0">
                <a:solidFill>
                  <a:srgbClr val="CE9178"/>
                </a:solidFill>
                <a:effectLst/>
                <a:latin typeface="Consolas" panose="020B0609020204030204" pitchFamily="49" charset="0"/>
              </a:rPr>
              <a:t>'</a:t>
            </a: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a:t>
            </a:r>
            <a:r>
              <a:rPr lang="en-GB" sz="1400" b="0" dirty="0" err="1">
                <a:solidFill>
                  <a:srgbClr val="CE9178"/>
                </a:solidFill>
                <a:effectLst/>
                <a:latin typeface="Consolas" panose="020B0609020204030204" pitchFamily="49" charset="0"/>
              </a:rPr>
              <a:t>laser_frame</a:t>
            </a:r>
            <a:r>
              <a:rPr lang="en-GB" sz="1400" b="0" dirty="0">
                <a:solidFill>
                  <a:srgbClr val="CE9178"/>
                </a:solidFill>
                <a:effectLst/>
                <a:latin typeface="Consolas" panose="020B0609020204030204" pitchFamily="49" charset="0"/>
              </a:rPr>
              <a:t>'</a:t>
            </a:r>
            <a:r>
              <a:rPr lang="en-GB" sz="1400" b="0" dirty="0">
                <a:solidFill>
                  <a:srgbClr val="CCCCCC"/>
                </a:solidFill>
                <a:effectLst/>
                <a:latin typeface="Consolas" panose="020B0609020204030204" pitchFamily="49" charset="0"/>
              </a:rPr>
              <a:t>,</a:t>
            </a:r>
          </a:p>
          <a:p>
            <a:pPr>
              <a:buNone/>
            </a:pP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a:t>
            </a:r>
            <a:r>
              <a:rPr lang="en-GB" sz="1400" b="0" dirty="0" err="1">
                <a:solidFill>
                  <a:srgbClr val="CE9178"/>
                </a:solidFill>
                <a:effectLst/>
                <a:latin typeface="Consolas" panose="020B0609020204030204" pitchFamily="49" charset="0"/>
              </a:rPr>
              <a:t>camera_frame</a:t>
            </a:r>
            <a:r>
              <a:rPr lang="en-GB" sz="1400" b="0" dirty="0">
                <a:solidFill>
                  <a:srgbClr val="CE9178"/>
                </a:solidFill>
                <a:effectLst/>
                <a:latin typeface="Consolas" panose="020B0609020204030204" pitchFamily="49" charset="0"/>
              </a:rPr>
              <a:t>'</a:t>
            </a: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a:t>
            </a:r>
            <a:r>
              <a:rPr lang="en-GB" sz="1400" b="0" dirty="0" err="1">
                <a:solidFill>
                  <a:srgbClr val="CE9178"/>
                </a:solidFill>
                <a:effectLst/>
                <a:latin typeface="Consolas" panose="020B0609020204030204" pitchFamily="49" charset="0"/>
              </a:rPr>
              <a:t>camera_link_optical</a:t>
            </a:r>
            <a:r>
              <a:rPr lang="en-GB" sz="1400" b="0" dirty="0">
                <a:solidFill>
                  <a:srgbClr val="CE9178"/>
                </a:solidFill>
                <a:effectLst/>
                <a:latin typeface="Consolas" panose="020B0609020204030204" pitchFamily="49" charset="0"/>
              </a:rPr>
              <a:t>'</a:t>
            </a:r>
            <a:r>
              <a:rPr lang="en-GB" sz="1400" b="0" dirty="0">
                <a:solidFill>
                  <a:srgbClr val="CCCCCC"/>
                </a:solidFill>
                <a:effectLst/>
                <a:latin typeface="Consolas" panose="020B0609020204030204" pitchFamily="49" charset="0"/>
              </a:rPr>
              <a:t>,</a:t>
            </a:r>
          </a:p>
          <a:p>
            <a:pPr>
              <a:buNone/>
            </a:pP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a:t>
            </a:r>
            <a:r>
              <a:rPr lang="en-GB" sz="1400" b="0" dirty="0" err="1">
                <a:solidFill>
                  <a:srgbClr val="CE9178"/>
                </a:solidFill>
                <a:effectLst/>
                <a:latin typeface="Consolas" panose="020B0609020204030204" pitchFamily="49" charset="0"/>
              </a:rPr>
              <a:t>tof_frame</a:t>
            </a:r>
            <a:r>
              <a:rPr lang="en-GB" sz="1400" b="0" dirty="0">
                <a:solidFill>
                  <a:srgbClr val="CE9178"/>
                </a:solidFill>
                <a:effectLst/>
                <a:latin typeface="Consolas" panose="020B0609020204030204" pitchFamily="49" charset="0"/>
              </a:rPr>
              <a:t>'</a:t>
            </a:r>
            <a:r>
              <a:rPr lang="en-GB" sz="1400" b="0" dirty="0">
                <a:solidFill>
                  <a:srgbClr val="CCCCCC"/>
                </a:solidFill>
                <a:effectLst/>
                <a:latin typeface="Consolas" panose="020B0609020204030204" pitchFamily="49" charset="0"/>
              </a:rPr>
              <a:t>: </a:t>
            </a:r>
            <a:r>
              <a:rPr lang="en-GB" sz="1400" b="0" dirty="0">
                <a:solidFill>
                  <a:srgbClr val="CE9178"/>
                </a:solidFill>
                <a:effectLst/>
                <a:latin typeface="Consolas" panose="020B0609020204030204" pitchFamily="49" charset="0"/>
              </a:rPr>
              <a:t>'</a:t>
            </a:r>
            <a:r>
              <a:rPr lang="en-GB" sz="1400" b="0" dirty="0" err="1">
                <a:solidFill>
                  <a:srgbClr val="CE9178"/>
                </a:solidFill>
                <a:effectLst/>
                <a:latin typeface="Consolas" panose="020B0609020204030204" pitchFamily="49" charset="0"/>
              </a:rPr>
              <a:t>tof_link</a:t>
            </a:r>
            <a:r>
              <a:rPr lang="en-GB" sz="1400" b="0" dirty="0">
                <a:solidFill>
                  <a:srgbClr val="CE9178"/>
                </a:solidFill>
                <a:effectLst/>
                <a:latin typeface="Consolas" panose="020B0609020204030204" pitchFamily="49" charset="0"/>
              </a:rPr>
              <a:t>'</a:t>
            </a:r>
            <a:endParaRPr lang="en-GB" sz="1400" b="0" dirty="0">
              <a:solidFill>
                <a:srgbClr val="CCCCCC"/>
              </a:solidFill>
              <a:effectLst/>
              <a:latin typeface="Consolas" panose="020B0609020204030204" pitchFamily="49" charset="0"/>
            </a:endParaRPr>
          </a:p>
          <a:p>
            <a:pPr>
              <a:buNone/>
            </a:pPr>
            <a:r>
              <a:rPr lang="en-GB" sz="1400" b="0" dirty="0">
                <a:solidFill>
                  <a:srgbClr val="CCCCCC"/>
                </a:solidFill>
                <a:effectLst/>
                <a:latin typeface="Consolas" panose="020B0609020204030204" pitchFamily="49" charset="0"/>
              </a:rPr>
              <a:t>    }</a:t>
            </a:r>
          </a:p>
          <a:p>
            <a:r>
              <a:rPr lang="en-GB" sz="1400" b="0" dirty="0">
                <a:solidFill>
                  <a:srgbClr val="CCCCCC"/>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0B4A9126-EACF-F019-43A2-A6B4C2EDB70A}"/>
              </a:ext>
            </a:extLst>
          </p:cNvPr>
          <p:cNvSpPr/>
          <p:nvPr/>
        </p:nvSpPr>
        <p:spPr>
          <a:xfrm>
            <a:off x="6527719" y="3329118"/>
            <a:ext cx="5181600" cy="672176"/>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pPr>
            <a:r>
              <a:rPr lang="en-GB" sz="1400" b="0" dirty="0">
                <a:solidFill>
                  <a:schemeClr val="tx1"/>
                </a:solidFill>
                <a:effectLst/>
                <a:latin typeface="Consolas" panose="020B0609020204030204" pitchFamily="49" charset="0"/>
              </a:rPr>
              <a:t>puzzlebot_hacker_ed</a:t>
            </a:r>
          </a:p>
          <a:p>
            <a:pPr>
              <a:lnSpc>
                <a:spcPts val="1425"/>
              </a:lnSpc>
            </a:pPr>
            <a:r>
              <a:rPr lang="en-GB" sz="1400" b="0" dirty="0">
                <a:solidFill>
                  <a:schemeClr val="tx1"/>
                </a:solidFill>
                <a:effectLst/>
                <a:latin typeface="Consolas" panose="020B0609020204030204" pitchFamily="49" charset="0"/>
              </a:rPr>
              <a:t>puzzlebot_jetson_ed</a:t>
            </a:r>
          </a:p>
          <a:p>
            <a:pPr>
              <a:lnSpc>
                <a:spcPts val="1425"/>
              </a:lnSpc>
            </a:pPr>
            <a:r>
              <a:rPr lang="en-GB" sz="1400" b="0" dirty="0">
                <a:solidFill>
                  <a:schemeClr val="tx1"/>
                </a:solidFill>
                <a:effectLst/>
                <a:latin typeface="Consolas" panose="020B0609020204030204" pitchFamily="49" charset="0"/>
              </a:rPr>
              <a:t>puzzlebot_jetson_lidar_ed</a:t>
            </a:r>
          </a:p>
        </p:txBody>
      </p:sp>
      <p:grpSp>
        <p:nvGrpSpPr>
          <p:cNvPr id="15" name="Group 14">
            <a:extLst>
              <a:ext uri="{FF2B5EF4-FFF2-40B4-BE49-F238E27FC236}">
                <a16:creationId xmlns:a16="http://schemas.microsoft.com/office/drawing/2014/main" id="{6E5E2310-1DAC-34E6-4C1E-D13247C31220}"/>
              </a:ext>
            </a:extLst>
          </p:cNvPr>
          <p:cNvGrpSpPr/>
          <p:nvPr/>
        </p:nvGrpSpPr>
        <p:grpSpPr>
          <a:xfrm>
            <a:off x="7465701" y="5737548"/>
            <a:ext cx="3352116" cy="1057027"/>
            <a:chOff x="7160502" y="5792008"/>
            <a:chExt cx="3352116" cy="1057027"/>
          </a:xfrm>
        </p:grpSpPr>
        <p:pic>
          <p:nvPicPr>
            <p:cNvPr id="9" name="Picture 8">
              <a:extLst>
                <a:ext uri="{FF2B5EF4-FFF2-40B4-BE49-F238E27FC236}">
                  <a16:creationId xmlns:a16="http://schemas.microsoft.com/office/drawing/2014/main" id="{9755A700-224F-602D-E40F-53EC1880ADC2}"/>
                </a:ext>
              </a:extLst>
            </p:cNvPr>
            <p:cNvPicPr>
              <a:picLocks noChangeAspect="1"/>
            </p:cNvPicPr>
            <p:nvPr/>
          </p:nvPicPr>
          <p:blipFill>
            <a:blip r:embed="rId3"/>
            <a:stretch>
              <a:fillRect/>
            </a:stretch>
          </p:blipFill>
          <p:spPr>
            <a:xfrm>
              <a:off x="7160502" y="5792008"/>
              <a:ext cx="3305636" cy="981212"/>
            </a:xfrm>
            <a:prstGeom prst="rect">
              <a:avLst/>
            </a:prstGeom>
          </p:spPr>
        </p:pic>
        <p:sp>
          <p:nvSpPr>
            <p:cNvPr id="14" name="Oval 13">
              <a:extLst>
                <a:ext uri="{FF2B5EF4-FFF2-40B4-BE49-F238E27FC236}">
                  <a16:creationId xmlns:a16="http://schemas.microsoft.com/office/drawing/2014/main" id="{20F80FE2-6A50-EC0B-290F-C8EFAABF5F83}"/>
                </a:ext>
              </a:extLst>
            </p:cNvPr>
            <p:cNvSpPr/>
            <p:nvPr/>
          </p:nvSpPr>
          <p:spPr>
            <a:xfrm>
              <a:off x="7206982" y="6454588"/>
              <a:ext cx="3305636" cy="394447"/>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grpSp>
    </p:spTree>
    <p:extLst>
      <p:ext uri="{BB962C8B-B14F-4D97-AF65-F5344CB8AC3E}">
        <p14:creationId xmlns:p14="http://schemas.microsoft.com/office/powerpoint/2010/main" val="1847260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69A068-22C6-D7DE-4C68-1C0837E99B63}"/>
              </a:ext>
            </a:extLst>
          </p:cNvPr>
          <p:cNvSpPr>
            <a:spLocks noGrp="1"/>
          </p:cNvSpPr>
          <p:nvPr>
            <p:ph type="title"/>
          </p:nvPr>
        </p:nvSpPr>
        <p:spPr/>
        <p:txBody>
          <a:bodyPr/>
          <a:lstStyle/>
          <a:p>
            <a:r>
              <a:rPr lang="en-GB" dirty="0"/>
              <a:t>Changing Puzzlebot model</a:t>
            </a:r>
          </a:p>
        </p:txBody>
      </p:sp>
      <p:sp>
        <p:nvSpPr>
          <p:cNvPr id="14" name="Content Placeholder 13">
            <a:extLst>
              <a:ext uri="{FF2B5EF4-FFF2-40B4-BE49-F238E27FC236}">
                <a16:creationId xmlns:a16="http://schemas.microsoft.com/office/drawing/2014/main" id="{AAA18E92-F215-5089-31FE-BF381D02DFBE}"/>
              </a:ext>
            </a:extLst>
          </p:cNvPr>
          <p:cNvSpPr>
            <a:spLocks noGrp="1"/>
          </p:cNvSpPr>
          <p:nvPr>
            <p:ph sz="half" idx="1"/>
          </p:nvPr>
        </p:nvSpPr>
        <p:spPr/>
        <p:txBody>
          <a:bodyPr>
            <a:normAutofit/>
          </a:bodyPr>
          <a:lstStyle/>
          <a:p>
            <a:pPr>
              <a:lnSpc>
                <a:spcPct val="150000"/>
              </a:lnSpc>
            </a:pPr>
            <a:r>
              <a:rPr lang="en-GB" sz="1600" dirty="0"/>
              <a:t>Save the file</a:t>
            </a:r>
          </a:p>
          <a:p>
            <a:pPr>
              <a:lnSpc>
                <a:spcPct val="150000"/>
              </a:lnSpc>
            </a:pPr>
            <a:r>
              <a:rPr lang="en-GB" sz="1600" dirty="0"/>
              <a:t>Follow the instructions in the previous section to initialise the Gazebo simulator.</a:t>
            </a:r>
          </a:p>
          <a:p>
            <a:pPr>
              <a:lnSpc>
                <a:spcPct val="150000"/>
              </a:lnSpc>
            </a:pPr>
            <a:r>
              <a:rPr lang="en-GB" sz="1600" dirty="0"/>
              <a:t>The following models should appear on the screen.</a:t>
            </a:r>
          </a:p>
        </p:txBody>
      </p:sp>
      <p:pic>
        <p:nvPicPr>
          <p:cNvPr id="4" name="Content Placeholder 3">
            <a:extLst>
              <a:ext uri="{FF2B5EF4-FFF2-40B4-BE49-F238E27FC236}">
                <a16:creationId xmlns:a16="http://schemas.microsoft.com/office/drawing/2014/main" id="{76AFC210-4D12-1FDE-BE91-C47716DF4D28}"/>
              </a:ext>
            </a:extLst>
          </p:cNvPr>
          <p:cNvPicPr>
            <a:picLocks noGrp="1" noChangeAspect="1"/>
          </p:cNvPicPr>
          <p:nvPr>
            <p:ph sz="half" idx="2"/>
          </p:nvPr>
        </p:nvPicPr>
        <p:blipFill>
          <a:blip r:embed="rId2"/>
          <a:stretch>
            <a:fillRect/>
          </a:stretch>
        </p:blipFill>
        <p:spPr>
          <a:xfrm>
            <a:off x="6172200" y="1980470"/>
            <a:ext cx="5181600" cy="4041647"/>
          </a:xfrm>
          <a:prstGeom prst="rect">
            <a:avLst/>
          </a:prstGeom>
        </p:spPr>
      </p:pic>
    </p:spTree>
    <p:extLst>
      <p:ext uri="{BB962C8B-B14F-4D97-AF65-F5344CB8AC3E}">
        <p14:creationId xmlns:p14="http://schemas.microsoft.com/office/powerpoint/2010/main" val="3935826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69A068-22C6-D7DE-4C68-1C0837E99B63}"/>
              </a:ext>
            </a:extLst>
          </p:cNvPr>
          <p:cNvSpPr>
            <a:spLocks noGrp="1"/>
          </p:cNvSpPr>
          <p:nvPr>
            <p:ph type="title"/>
          </p:nvPr>
        </p:nvSpPr>
        <p:spPr/>
        <p:txBody>
          <a:bodyPr/>
          <a:lstStyle/>
          <a:p>
            <a:r>
              <a:rPr lang="en-GB" dirty="0"/>
              <a:t>Changing Puzzlebot model</a:t>
            </a:r>
          </a:p>
        </p:txBody>
      </p:sp>
      <p:sp>
        <p:nvSpPr>
          <p:cNvPr id="14" name="Content Placeholder 13">
            <a:extLst>
              <a:ext uri="{FF2B5EF4-FFF2-40B4-BE49-F238E27FC236}">
                <a16:creationId xmlns:a16="http://schemas.microsoft.com/office/drawing/2014/main" id="{AAA18E92-F215-5089-31FE-BF381D02DFBE}"/>
              </a:ext>
            </a:extLst>
          </p:cNvPr>
          <p:cNvSpPr>
            <a:spLocks noGrp="1"/>
          </p:cNvSpPr>
          <p:nvPr>
            <p:ph sz="half" idx="1"/>
          </p:nvPr>
        </p:nvSpPr>
        <p:spPr/>
        <p:txBody>
          <a:bodyPr>
            <a:normAutofit/>
          </a:bodyPr>
          <a:lstStyle/>
          <a:p>
            <a:pPr>
              <a:lnSpc>
                <a:spcPct val="150000"/>
              </a:lnSpc>
            </a:pPr>
            <a:r>
              <a:rPr lang="en-GB" sz="1600" dirty="0"/>
              <a:t>Each robot contains different topics according to the sensors and the information published.</a:t>
            </a:r>
          </a:p>
          <a:p>
            <a:pPr>
              <a:lnSpc>
                <a:spcPct val="150000"/>
              </a:lnSpc>
            </a:pPr>
            <a:r>
              <a:rPr lang="en-GB" sz="1600" dirty="0"/>
              <a:t>Use a “</a:t>
            </a:r>
            <a:r>
              <a:rPr lang="en-GB" sz="1600" i="1" dirty="0"/>
              <a:t>ros2 topic list</a:t>
            </a:r>
            <a:r>
              <a:rPr lang="en-GB" sz="1600" dirty="0"/>
              <a:t>” command to view the topics of each robot</a:t>
            </a:r>
          </a:p>
        </p:txBody>
      </p:sp>
      <p:pic>
        <p:nvPicPr>
          <p:cNvPr id="5" name="Content Placeholder 4">
            <a:extLst>
              <a:ext uri="{FF2B5EF4-FFF2-40B4-BE49-F238E27FC236}">
                <a16:creationId xmlns:a16="http://schemas.microsoft.com/office/drawing/2014/main" id="{7AC43913-E76F-D3D9-62C0-4119874FE887}"/>
              </a:ext>
            </a:extLst>
          </p:cNvPr>
          <p:cNvPicPr>
            <a:picLocks noGrp="1" noChangeAspect="1"/>
          </p:cNvPicPr>
          <p:nvPr>
            <p:ph sz="half" idx="2"/>
          </p:nvPr>
        </p:nvPicPr>
        <p:blipFill>
          <a:blip r:embed="rId2"/>
          <a:srcRect t="53979"/>
          <a:stretch/>
        </p:blipFill>
        <p:spPr>
          <a:xfrm>
            <a:off x="6487669" y="2335696"/>
            <a:ext cx="5557950" cy="3314493"/>
          </a:xfrm>
          <a:prstGeom prst="rect">
            <a:avLst/>
          </a:prstGeom>
        </p:spPr>
      </p:pic>
    </p:spTree>
    <p:extLst>
      <p:ext uri="{BB962C8B-B14F-4D97-AF65-F5344CB8AC3E}">
        <p14:creationId xmlns:p14="http://schemas.microsoft.com/office/powerpoint/2010/main" val="3559641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C7972-788C-E055-1824-E4A0906E710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CC9A03-913C-59AD-27C6-E87D522CB934}"/>
              </a:ext>
            </a:extLst>
          </p:cNvPr>
          <p:cNvSpPr>
            <a:spLocks noGrp="1"/>
          </p:cNvSpPr>
          <p:nvPr>
            <p:ph sz="half" idx="1"/>
          </p:nvPr>
        </p:nvSpPr>
        <p:spPr>
          <a:xfrm>
            <a:off x="76200" y="1861484"/>
            <a:ext cx="4935071" cy="4351338"/>
          </a:xfrm>
        </p:spPr>
        <p:txBody>
          <a:bodyPr>
            <a:normAutofit/>
          </a:bodyPr>
          <a:lstStyle/>
          <a:p>
            <a:pPr marL="0" indent="0">
              <a:lnSpc>
                <a:spcPct val="150000"/>
              </a:lnSpc>
              <a:buNone/>
            </a:pPr>
            <a:r>
              <a:rPr lang="en-GB" sz="1800" b="1" dirty="0">
                <a:latin typeface="Nexa Bold" panose="02000000000000000000" pitchFamily="50" charset="0"/>
              </a:rPr>
              <a:t>Running  the simulation</a:t>
            </a:r>
            <a:endParaRPr lang="en-GB" sz="1800" dirty="0"/>
          </a:p>
          <a:p>
            <a:pPr>
              <a:lnSpc>
                <a:spcPct val="150000"/>
              </a:lnSpc>
            </a:pPr>
            <a:r>
              <a:rPr lang="en-GB" sz="1600" dirty="0"/>
              <a:t>The simulator outputs a transform tree for the robot that can be used for visualisation in RVIZ.</a:t>
            </a:r>
          </a:p>
          <a:p>
            <a:pPr>
              <a:lnSpc>
                <a:spcPct val="150000"/>
              </a:lnSpc>
            </a:pPr>
            <a:r>
              <a:rPr lang="en-GB" sz="1600" dirty="0"/>
              <a:t>The transform tree root is the “world” frame.</a:t>
            </a:r>
          </a:p>
          <a:p>
            <a:pPr>
              <a:lnSpc>
                <a:spcPct val="150000"/>
              </a:lnSpc>
            </a:pPr>
            <a:r>
              <a:rPr lang="en-GB" sz="1600" dirty="0"/>
              <a:t>The robot frames will change depending on the robot type, i.e., </a:t>
            </a:r>
            <a:r>
              <a:rPr lang="en-GB" sz="1600" dirty="0" err="1"/>
              <a:t>Puzzlebot_hacker_ed</a:t>
            </a:r>
            <a:r>
              <a:rPr lang="en-GB" sz="1600" dirty="0"/>
              <a:t>, </a:t>
            </a:r>
            <a:r>
              <a:rPr lang="en-GB" sz="1600" dirty="0" err="1"/>
              <a:t>Puzzlebot_jetson_edition</a:t>
            </a:r>
            <a:r>
              <a:rPr lang="en-GB" sz="1600" dirty="0"/>
              <a:t>, </a:t>
            </a:r>
            <a:r>
              <a:rPr lang="en-GB" sz="1600" dirty="0" err="1"/>
              <a:t>Puzzlebot_jetson_lidar_ed</a:t>
            </a:r>
            <a:r>
              <a:rPr lang="en-GB" sz="1600" dirty="0"/>
              <a:t>, due to the frames of the sensors. </a:t>
            </a:r>
          </a:p>
        </p:txBody>
      </p:sp>
      <p:sp>
        <p:nvSpPr>
          <p:cNvPr id="4" name="Title 3">
            <a:extLst>
              <a:ext uri="{FF2B5EF4-FFF2-40B4-BE49-F238E27FC236}">
                <a16:creationId xmlns:a16="http://schemas.microsoft.com/office/drawing/2014/main" id="{2D35B6DE-10FE-CBB4-E247-94A4647FF48E}"/>
              </a:ext>
            </a:extLst>
          </p:cNvPr>
          <p:cNvSpPr>
            <a:spLocks noGrp="1"/>
          </p:cNvSpPr>
          <p:nvPr>
            <p:ph type="title"/>
          </p:nvPr>
        </p:nvSpPr>
        <p:spPr/>
        <p:txBody>
          <a:bodyPr/>
          <a:lstStyle/>
          <a:p>
            <a:r>
              <a:rPr lang="en-GB" dirty="0"/>
              <a:t>Gazebo simulation</a:t>
            </a:r>
          </a:p>
        </p:txBody>
      </p:sp>
      <p:pic>
        <p:nvPicPr>
          <p:cNvPr id="9" name="Content Placeholder 8">
            <a:extLst>
              <a:ext uri="{FF2B5EF4-FFF2-40B4-BE49-F238E27FC236}">
                <a16:creationId xmlns:a16="http://schemas.microsoft.com/office/drawing/2014/main" id="{EACC7A60-A859-9857-536E-1F288EABC68C}"/>
              </a:ext>
            </a:extLst>
          </p:cNvPr>
          <p:cNvPicPr>
            <a:picLocks noGrp="1" noChangeAspect="1"/>
          </p:cNvPicPr>
          <p:nvPr>
            <p:ph sz="half" idx="2"/>
          </p:nvPr>
        </p:nvPicPr>
        <p:blipFill>
          <a:blip r:embed="rId2"/>
          <a:stretch>
            <a:fillRect/>
          </a:stretch>
        </p:blipFill>
        <p:spPr>
          <a:xfrm>
            <a:off x="5190601" y="2311447"/>
            <a:ext cx="7001399" cy="3402271"/>
          </a:xfrm>
        </p:spPr>
      </p:pic>
    </p:spTree>
    <p:extLst>
      <p:ext uri="{BB962C8B-B14F-4D97-AF65-F5344CB8AC3E}">
        <p14:creationId xmlns:p14="http://schemas.microsoft.com/office/powerpoint/2010/main" val="3999432632"/>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31C2F4BA-8CD1-424B-B5B5-360BB9C4429E}" vid="{4383FA9D-3BE3-4AD1-B8EA-46A5EDA21D03}"/>
    </a:ext>
  </a:extLst>
</a:theme>
</file>

<file path=docProps/app.xml><?xml version="1.0" encoding="utf-8"?>
<Properties xmlns="http://schemas.openxmlformats.org/officeDocument/2006/extended-properties" xmlns:vt="http://schemas.openxmlformats.org/officeDocument/2006/docPropsVTypes">
  <Template>MCR2_PowerPoint_Template</Template>
  <TotalTime>436</TotalTime>
  <Words>1352</Words>
  <Application>Microsoft Office PowerPoint</Application>
  <PresentationFormat>Widescreen</PresentationFormat>
  <Paragraphs>190</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Calibri</vt:lpstr>
      <vt:lpstr>Calibri Light</vt:lpstr>
      <vt:lpstr>Cambria Math</vt:lpstr>
      <vt:lpstr>Consolas</vt:lpstr>
      <vt:lpstr>Nexa Bold</vt:lpstr>
      <vt:lpstr>Nexa-Bold</vt:lpstr>
      <vt:lpstr>Nexa-Book</vt:lpstr>
      <vt:lpstr>Nexa-Light</vt:lpstr>
      <vt:lpstr>MCR2 Theme</vt:lpstr>
      <vt:lpstr>Puzzlebot Gazebo Simulator</vt:lpstr>
      <vt:lpstr>Gazebo simulation</vt:lpstr>
      <vt:lpstr>Gazebo simulation</vt:lpstr>
      <vt:lpstr>Gazebo simulation</vt:lpstr>
      <vt:lpstr>Gazebo simulation</vt:lpstr>
      <vt:lpstr>Gazebo simulation</vt:lpstr>
      <vt:lpstr>Robot Teleoperation</vt:lpstr>
      <vt:lpstr>Puzzlebot Gazebo Simulator</vt:lpstr>
      <vt:lpstr>Simulator Configuration</vt:lpstr>
      <vt:lpstr>Changing the environment</vt:lpstr>
      <vt:lpstr>Changing the environment</vt:lpstr>
      <vt:lpstr>Simulator Configuration</vt:lpstr>
      <vt:lpstr>Changing Puzzlebot model</vt:lpstr>
      <vt:lpstr>Changing Puzzlebot model</vt:lpstr>
      <vt:lpstr>Changing Puzzlebot model</vt:lpstr>
      <vt:lpstr>Gazebo simulation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Puzzlebot Gazebo Simulator</dc:title>
  <dc:creator>Mario Martinez</dc:creator>
  <cp:lastModifiedBy>Mario Martinez</cp:lastModifiedBy>
  <cp:revision>11</cp:revision>
  <dcterms:created xsi:type="dcterms:W3CDTF">2024-03-07T15:39:17Z</dcterms:created>
  <dcterms:modified xsi:type="dcterms:W3CDTF">2025-04-16T10:19:05Z</dcterms:modified>
</cp:coreProperties>
</file>